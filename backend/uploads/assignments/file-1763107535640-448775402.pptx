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28" r:id="rId2"/>
    <p:sldId id="431" r:id="rId3"/>
    <p:sldId id="434" r:id="rId4"/>
    <p:sldId id="438" r:id="rId5"/>
    <p:sldId id="440" r:id="rId6"/>
    <p:sldId id="441" r:id="rId7"/>
    <p:sldId id="442" r:id="rId8"/>
    <p:sldId id="443" r:id="rId9"/>
    <p:sldId id="444" r:id="rId10"/>
    <p:sldId id="445" r:id="rId11"/>
    <p:sldId id="446" r:id="rId12"/>
    <p:sldId id="447" r:id="rId13"/>
    <p:sldId id="448" r:id="rId14"/>
    <p:sldId id="450" r:id="rId15"/>
    <p:sldId id="465" r:id="rId16"/>
    <p:sldId id="451" r:id="rId17"/>
    <p:sldId id="454" r:id="rId18"/>
    <p:sldId id="455" r:id="rId19"/>
    <p:sldId id="466" r:id="rId20"/>
    <p:sldId id="467" r:id="rId21"/>
    <p:sldId id="468" r:id="rId22"/>
    <p:sldId id="469" r:id="rId2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5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4D80FD-F0FB-D76A-EA3F-3E7E155DD9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CC3F8262-92D9-7156-45E0-3842FEDB51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0FA3A24C-8C81-2BEA-D9AF-382A3A7379CF}"/>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535A9BC2-A220-7A57-BB21-7C8B536BF9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DB32844-1C1F-6B79-37AF-18188530049A}"/>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3244357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1B25E-3DF4-5ECE-50B1-6FF2D44AAC6D}"/>
              </a:ext>
            </a:extLst>
          </p:cNvPr>
          <p:cNvSpPr>
            <a:spLocks noGrp="1"/>
          </p:cNvSpPr>
          <p:nvPr>
            <p:ph type="title"/>
          </p:nvPr>
        </p:nvSpPr>
        <p:spPr/>
        <p:txBody>
          <a:bodyPr/>
          <a:lstStyle>
            <a:lvl1pPr>
              <a:defRPr>
                <a:solidFill>
                  <a:srgbClr val="0070C0"/>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5523AA05-11E2-EB47-FA40-CEFE24EAFC46}"/>
              </a:ext>
            </a:extLst>
          </p:cNvPr>
          <p:cNvSpPr>
            <a:spLocks noGrp="1"/>
          </p:cNvSpPr>
          <p:nvPr>
            <p:ph idx="1"/>
          </p:nvPr>
        </p:nvSpPr>
        <p:spPr/>
        <p:txBody>
          <a:bodyPr/>
          <a:lstStyle>
            <a:lvl1pPr marL="457200" indent="-457200">
              <a:buFont typeface="Wingdings" panose="05000000000000000000" pitchFamily="2" charset="2"/>
              <a:buChar char="ü"/>
              <a:defRPr>
                <a:latin typeface="Times New Roman" panose="02020603050405020304" pitchFamily="18" charset="0"/>
                <a:cs typeface="Times New Roman" panose="02020603050405020304" pitchFamily="18" charset="0"/>
              </a:defRPr>
            </a:lvl1pPr>
            <a:lvl2pPr marL="914400" indent="-457200">
              <a:buFont typeface="Wingdings" panose="05000000000000000000" pitchFamily="2" charset="2"/>
              <a:buChar char="v"/>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7F6377A8-8DF7-70F9-6EA6-AA31161A569D}"/>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F376F1E9-938B-A954-EFF3-C92DBD648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E7369A0-5F00-E4AA-10B4-B8957FFA85A8}"/>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57180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0D1F05-FDF1-CC5E-6AD7-67B93A890E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41AFE80-8C74-2AB6-16DC-CC0497366D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3276DF2-337C-A3D6-7C03-EA22F568AEB8}"/>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C0C5BF0A-EB99-0FDE-A6E2-4CA87AA80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3A60DAE-8C90-DECD-D0A1-40E4572FB2F4}"/>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829762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FC9071-575D-C390-D1EE-CC617ECA0A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89D59CC-5571-EF71-46EE-D3ECD90DC3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830EDDAC-D4E7-99C6-7D22-4690D2B15D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EC8BA923-D5EA-190A-C225-AFAC036C589D}"/>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6" name="Footer Placeholder 5">
            <a:extLst>
              <a:ext uri="{FF2B5EF4-FFF2-40B4-BE49-F238E27FC236}">
                <a16:creationId xmlns:a16="http://schemas.microsoft.com/office/drawing/2014/main" xmlns="" id="{2EB6CFE5-8853-8A34-08F6-D4A18B3938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22B0050-81F6-08DB-2205-8E343F14AD24}"/>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2405417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F0B711-36A4-74A1-97DB-C4953B7B30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33FFC37-F1C3-CB9E-CBA7-836128B87B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F676E53-F411-C306-24A2-F6B4489FCF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7ED94410-75A5-1829-76BC-433CE07C2E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6DF752B-9C5B-C1D9-F397-5056FA1A91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12267E9D-6967-DCE1-D05E-D0A805DF0481}"/>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8" name="Footer Placeholder 7">
            <a:extLst>
              <a:ext uri="{FF2B5EF4-FFF2-40B4-BE49-F238E27FC236}">
                <a16:creationId xmlns:a16="http://schemas.microsoft.com/office/drawing/2014/main" xmlns="" id="{D93267C6-C6A5-0C4C-7775-B684BDCA7B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7AC13C45-4531-D4DB-9ADD-704471D4D8CD}"/>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258079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8A510D-4BA2-9582-C39D-51425B11C0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A9AAE8B-AB06-A4F0-DF02-4A12D5531A35}"/>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4" name="Footer Placeholder 3">
            <a:extLst>
              <a:ext uri="{FF2B5EF4-FFF2-40B4-BE49-F238E27FC236}">
                <a16:creationId xmlns:a16="http://schemas.microsoft.com/office/drawing/2014/main" xmlns="" id="{C335CA02-99AB-87AA-E057-A03D55674B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4CFB565-CA58-5717-D36A-E19A4125753B}"/>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116526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BD5C657-BFDB-6274-167F-4E0F00F434A0}"/>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3" name="Footer Placeholder 2">
            <a:extLst>
              <a:ext uri="{FF2B5EF4-FFF2-40B4-BE49-F238E27FC236}">
                <a16:creationId xmlns:a16="http://schemas.microsoft.com/office/drawing/2014/main" xmlns="" id="{15B03C64-71FA-BC78-5435-B63EF5C1E0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DAFFAE56-5E09-B2E1-3BCA-FFFBD157C4B4}"/>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2516140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248D0-4D98-2B1E-0316-D123A942D5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37AFE90D-687C-2B2E-1A16-2BB66D3C4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522C294-65C6-889A-3657-D7EF9DC5A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E2882A8-F372-5666-385A-44AE36B163F4}"/>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6" name="Footer Placeholder 5">
            <a:extLst>
              <a:ext uri="{FF2B5EF4-FFF2-40B4-BE49-F238E27FC236}">
                <a16:creationId xmlns:a16="http://schemas.microsoft.com/office/drawing/2014/main" xmlns="" id="{13DCD046-CEB3-F7A8-2378-8EA9DDA712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4B1C60A-E0B9-BEBD-B4B7-8FB45328FAEF}"/>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888777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85D0A4-7079-250B-793F-D10561734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63E7AA97-5099-29EE-93F8-8384F593AC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DA37E83B-8AEB-1889-2729-7D14D8CF5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EEDC42A-3D81-B21B-948D-CBB08B70DDFA}"/>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6" name="Footer Placeholder 5">
            <a:extLst>
              <a:ext uri="{FF2B5EF4-FFF2-40B4-BE49-F238E27FC236}">
                <a16:creationId xmlns:a16="http://schemas.microsoft.com/office/drawing/2014/main" xmlns="" id="{CB6FCB29-0179-10FE-89FB-12B5A1A34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969C0B2-7010-9E91-9614-5CEB08E1E0C0}"/>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1348086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388BC0-BB0D-106E-54E1-B2FA261C42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3C80D547-D779-3DF3-6AE8-164E1CCC90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CF399DE-6C5F-6975-A9DD-32D0B623C05B}"/>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13B87D95-309A-E75D-40CE-FFD3E47C0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612945B-8047-3175-4DFC-7828FE869544}"/>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192633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CAA99E7-1E6C-F6DB-E452-F60ECF1083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9FF0EA26-1C07-AF7D-F8E1-5B929EFDE8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0A88A73-FEA7-3921-60F8-177DBA1A40A1}"/>
              </a:ext>
            </a:extLst>
          </p:cNvPr>
          <p:cNvSpPr>
            <a:spLocks noGrp="1"/>
          </p:cNvSpPr>
          <p:nvPr>
            <p:ph type="dt" sz="half" idx="10"/>
          </p:nvPr>
        </p:nvSpPr>
        <p:spPr/>
        <p:txBody>
          <a:body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4B9783B4-98AC-B8C5-8884-96A560A3AA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0FB0A6C-E704-3BF9-0138-4F0AD0860193}"/>
              </a:ext>
            </a:extLst>
          </p:cNvPr>
          <p:cNvSpPr>
            <a:spLocks noGrp="1"/>
          </p:cNvSpPr>
          <p:nvPr>
            <p:ph type="sldNum" sz="quarter" idx="12"/>
          </p:nvPr>
        </p:nvSpPr>
        <p:spPr/>
        <p:txBody>
          <a:bodyPr/>
          <a:lstStyle/>
          <a:p>
            <a:fld id="{B24711B8-D970-408A-ADC9-A89F398CFFC8}" type="slidenum">
              <a:rPr lang="en-US" smtClean="0"/>
              <a:t>‹#›</a:t>
            </a:fld>
            <a:endParaRPr lang="en-US"/>
          </a:p>
        </p:txBody>
      </p:sp>
    </p:spTree>
    <p:extLst>
      <p:ext uri="{BB962C8B-B14F-4D97-AF65-F5344CB8AC3E}">
        <p14:creationId xmlns:p14="http://schemas.microsoft.com/office/powerpoint/2010/main" val="559874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3A0B181-AFDD-5D2B-A76F-3F921C6A92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0B3B1383-6D58-E68E-9BF4-E4F98DCB71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6884AAD-EE9C-F1BB-3F4D-A68DCBD616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8BC3D3-006D-4F84-B564-6AA6BE0185A4}" type="datetimeFigureOut">
              <a:rPr lang="en-US" smtClean="0"/>
              <a:t>11/29/2024</a:t>
            </a:fld>
            <a:endParaRPr lang="en-US"/>
          </a:p>
        </p:txBody>
      </p:sp>
      <p:sp>
        <p:nvSpPr>
          <p:cNvPr id="5" name="Footer Placeholder 4">
            <a:extLst>
              <a:ext uri="{FF2B5EF4-FFF2-40B4-BE49-F238E27FC236}">
                <a16:creationId xmlns:a16="http://schemas.microsoft.com/office/drawing/2014/main" xmlns="" id="{38112029-9658-51FF-835E-BFD0409C68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2980A880-8658-D9BE-B430-5C4B4761BC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4711B8-D970-408A-ADC9-A89F398CFFC8}" type="slidenum">
              <a:rPr lang="en-US" smtClean="0"/>
              <a:t>‹#›</a:t>
            </a:fld>
            <a:endParaRPr lang="en-US"/>
          </a:p>
        </p:txBody>
      </p:sp>
    </p:spTree>
    <p:extLst>
      <p:ext uri="{BB962C8B-B14F-4D97-AF65-F5344CB8AC3E}">
        <p14:creationId xmlns:p14="http://schemas.microsoft.com/office/powerpoint/2010/main" val="435714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75C697-B225-5D90-99CF-6EEB34D1FA5C}"/>
              </a:ext>
            </a:extLst>
          </p:cNvPr>
          <p:cNvSpPr>
            <a:spLocks noGrp="1"/>
          </p:cNvSpPr>
          <p:nvPr>
            <p:ph type="title"/>
          </p:nvPr>
        </p:nvSpPr>
        <p:spPr>
          <a:xfrm>
            <a:off x="424973" y="330903"/>
            <a:ext cx="10515600" cy="1325563"/>
          </a:xfrm>
        </p:spPr>
        <p:txBody>
          <a:bodyPr/>
          <a:lstStyle/>
          <a:p>
            <a:pPr algn="ctr"/>
            <a:r>
              <a:rPr lang="en-US" dirty="0" smtClean="0"/>
              <a:t>Chapter-5: Cloud </a:t>
            </a:r>
            <a:r>
              <a:rPr lang="en-US" dirty="0"/>
              <a:t>Security</a:t>
            </a:r>
          </a:p>
        </p:txBody>
      </p:sp>
      <p:pic>
        <p:nvPicPr>
          <p:cNvPr id="3" name="Content Placeholder 4">
            <a:extLst>
              <a:ext uri="{FF2B5EF4-FFF2-40B4-BE49-F238E27FC236}">
                <a16:creationId xmlns:a16="http://schemas.microsoft.com/office/drawing/2014/main" xmlns="" id="{C5BDA8A9-027B-FB0F-141E-21235A66D862}"/>
              </a:ext>
            </a:extLst>
          </p:cNvPr>
          <p:cNvPicPr>
            <a:picLocks noChangeAspect="1"/>
          </p:cNvPicPr>
          <p:nvPr/>
        </p:nvPicPr>
        <p:blipFill>
          <a:blip r:embed="rId2"/>
          <a:stretch>
            <a:fillRect/>
          </a:stretch>
        </p:blipFill>
        <p:spPr>
          <a:xfrm>
            <a:off x="798490" y="1825625"/>
            <a:ext cx="9787944" cy="4879066"/>
          </a:xfrm>
          <a:prstGeom prst="rect">
            <a:avLst/>
          </a:prstGeom>
        </p:spPr>
      </p:pic>
    </p:spTree>
    <p:extLst>
      <p:ext uri="{BB962C8B-B14F-4D97-AF65-F5344CB8AC3E}">
        <p14:creationId xmlns:p14="http://schemas.microsoft.com/office/powerpoint/2010/main" val="41534330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B888F4-0877-8D9E-2732-B278622F6010}"/>
              </a:ext>
            </a:extLst>
          </p:cNvPr>
          <p:cNvSpPr>
            <a:spLocks noGrp="1"/>
          </p:cNvSpPr>
          <p:nvPr>
            <p:ph type="title"/>
          </p:nvPr>
        </p:nvSpPr>
        <p:spPr/>
        <p:txBody>
          <a:bodyPr/>
          <a:lstStyle/>
          <a:p>
            <a:r>
              <a:rPr lang="en-US" dirty="0"/>
              <a:t>What is cloud security</a:t>
            </a:r>
          </a:p>
        </p:txBody>
      </p:sp>
      <p:sp>
        <p:nvSpPr>
          <p:cNvPr id="3" name="Content Placeholder 2">
            <a:extLst>
              <a:ext uri="{FF2B5EF4-FFF2-40B4-BE49-F238E27FC236}">
                <a16:creationId xmlns:a16="http://schemas.microsoft.com/office/drawing/2014/main" xmlns="" id="{DF344703-CE98-D5C2-6876-995C8FC84626}"/>
              </a:ext>
            </a:extLst>
          </p:cNvPr>
          <p:cNvSpPr>
            <a:spLocks noGrp="1"/>
          </p:cNvSpPr>
          <p:nvPr>
            <p:ph idx="1"/>
          </p:nvPr>
        </p:nvSpPr>
        <p:spPr>
          <a:xfrm>
            <a:off x="838200" y="1690688"/>
            <a:ext cx="10805160" cy="4486275"/>
          </a:xfrm>
        </p:spPr>
        <p:txBody>
          <a:bodyPr>
            <a:normAutofit/>
          </a:bodyPr>
          <a:lstStyle/>
          <a:p>
            <a:r>
              <a:rPr lang="en-US" b="0" i="0" dirty="0">
                <a:solidFill>
                  <a:srgbClr val="000000"/>
                </a:solidFill>
                <a:effectLst/>
              </a:rPr>
              <a:t>Set of control-based technologies and policies designed to adhere to regulatory compliance rules and protect information, data applications and infrastructure associated with cloud computing use</a:t>
            </a:r>
          </a:p>
          <a:p>
            <a:r>
              <a:rPr lang="en-US" b="0" i="0" dirty="0">
                <a:solidFill>
                  <a:srgbClr val="000000"/>
                </a:solidFill>
                <a:effectLst/>
              </a:rPr>
              <a:t>Concern on</a:t>
            </a:r>
            <a:endParaRPr lang="en-US" sz="4000" dirty="0"/>
          </a:p>
          <a:p>
            <a:pPr lvl="1"/>
            <a:r>
              <a:rPr lang="en-US" sz="2600" b="0" i="0" dirty="0">
                <a:solidFill>
                  <a:srgbClr val="000000"/>
                </a:solidFill>
                <a:effectLst/>
              </a:rPr>
              <a:t>Identity management</a:t>
            </a:r>
          </a:p>
          <a:p>
            <a:pPr lvl="1"/>
            <a:r>
              <a:rPr lang="en-US" sz="2600" b="0" i="0" dirty="0">
                <a:solidFill>
                  <a:srgbClr val="000000"/>
                </a:solidFill>
                <a:effectLst/>
              </a:rPr>
              <a:t>Access control</a:t>
            </a:r>
          </a:p>
          <a:p>
            <a:pPr lvl="1"/>
            <a:r>
              <a:rPr lang="en-US" sz="2600" b="0" i="0" dirty="0">
                <a:solidFill>
                  <a:srgbClr val="000000"/>
                </a:solidFill>
                <a:effectLst/>
              </a:rPr>
              <a:t>Data security and Privacy</a:t>
            </a:r>
          </a:p>
          <a:p>
            <a:pPr lvl="1"/>
            <a:r>
              <a:rPr lang="en-US" sz="2600" b="0" i="0" dirty="0">
                <a:solidFill>
                  <a:srgbClr val="000000"/>
                </a:solidFill>
                <a:effectLst/>
              </a:rPr>
              <a:t>Business continuity</a:t>
            </a:r>
          </a:p>
          <a:p>
            <a:pPr lvl="1"/>
            <a:r>
              <a:rPr lang="en-US" sz="2600" b="0" i="0" dirty="0">
                <a:solidFill>
                  <a:srgbClr val="000000"/>
                </a:solidFill>
                <a:effectLst/>
              </a:rPr>
              <a:t>Data </a:t>
            </a:r>
            <a:r>
              <a:rPr lang="en-US" sz="2600" b="0" i="0" dirty="0" smtClean="0">
                <a:solidFill>
                  <a:srgbClr val="000000"/>
                </a:solidFill>
                <a:effectLst/>
              </a:rPr>
              <a:t>breach</a:t>
            </a:r>
            <a:r>
              <a:rPr lang="en-US" sz="2600" b="0" i="0" dirty="0" smtClean="0">
                <a:solidFill>
                  <a:srgbClr val="000000"/>
                </a:solidFill>
                <a:effectLst/>
                <a:sym typeface="Wingdings" panose="05000000000000000000" pitchFamily="2" charset="2"/>
              </a:rPr>
              <a:t> unauthorized access sensitive data</a:t>
            </a:r>
            <a:endParaRPr lang="en-US" sz="2600" b="0" i="0" dirty="0">
              <a:solidFill>
                <a:srgbClr val="000000"/>
              </a:solidFill>
              <a:effectLst/>
            </a:endParaRPr>
          </a:p>
          <a:p>
            <a:pPr lvl="1"/>
            <a:r>
              <a:rPr lang="en-US" sz="2600" b="0" i="0" dirty="0">
                <a:solidFill>
                  <a:srgbClr val="000000"/>
                </a:solidFill>
                <a:effectLst/>
              </a:rPr>
              <a:t>Backup plan</a:t>
            </a:r>
            <a:r>
              <a:rPr lang="en-US" sz="3500" dirty="0"/>
              <a:t> </a:t>
            </a:r>
            <a:endParaRPr lang="en-US" sz="3600" dirty="0"/>
          </a:p>
        </p:txBody>
      </p:sp>
      <p:pic>
        <p:nvPicPr>
          <p:cNvPr id="5" name="Picture 4">
            <a:extLst>
              <a:ext uri="{FF2B5EF4-FFF2-40B4-BE49-F238E27FC236}">
                <a16:creationId xmlns:a16="http://schemas.microsoft.com/office/drawing/2014/main" xmlns="" id="{CA12CFD9-0591-B0C0-F30E-34F5BDF281A0}"/>
              </a:ext>
            </a:extLst>
          </p:cNvPr>
          <p:cNvPicPr>
            <a:picLocks noChangeAspect="1"/>
          </p:cNvPicPr>
          <p:nvPr/>
        </p:nvPicPr>
        <p:blipFill>
          <a:blip r:embed="rId2"/>
          <a:stretch>
            <a:fillRect/>
          </a:stretch>
        </p:blipFill>
        <p:spPr>
          <a:xfrm>
            <a:off x="8528685" y="3016251"/>
            <a:ext cx="3114675" cy="2428875"/>
          </a:xfrm>
          <a:prstGeom prst="rect">
            <a:avLst/>
          </a:prstGeom>
        </p:spPr>
      </p:pic>
    </p:spTree>
    <p:extLst>
      <p:ext uri="{BB962C8B-B14F-4D97-AF65-F5344CB8AC3E}">
        <p14:creationId xmlns:p14="http://schemas.microsoft.com/office/powerpoint/2010/main" val="21911605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20AF5B-3D0C-B5F4-E577-764469A62F04}"/>
              </a:ext>
            </a:extLst>
          </p:cNvPr>
          <p:cNvSpPr>
            <a:spLocks noGrp="1"/>
          </p:cNvSpPr>
          <p:nvPr>
            <p:ph type="title"/>
          </p:nvPr>
        </p:nvSpPr>
        <p:spPr/>
        <p:txBody>
          <a:bodyPr/>
          <a:lstStyle/>
          <a:p>
            <a:r>
              <a:rPr lang="en-US" dirty="0"/>
              <a:t>Security Challenges</a:t>
            </a:r>
          </a:p>
        </p:txBody>
      </p:sp>
      <p:sp>
        <p:nvSpPr>
          <p:cNvPr id="3" name="Content Placeholder 2">
            <a:extLst>
              <a:ext uri="{FF2B5EF4-FFF2-40B4-BE49-F238E27FC236}">
                <a16:creationId xmlns:a16="http://schemas.microsoft.com/office/drawing/2014/main" xmlns="" id="{EFA639F0-ACB0-3E8D-C071-4C0942658469}"/>
              </a:ext>
            </a:extLst>
          </p:cNvPr>
          <p:cNvSpPr>
            <a:spLocks noGrp="1"/>
          </p:cNvSpPr>
          <p:nvPr>
            <p:ph idx="1"/>
          </p:nvPr>
        </p:nvSpPr>
        <p:spPr/>
        <p:txBody>
          <a:bodyPr>
            <a:normAutofit lnSpcReduction="10000"/>
          </a:bodyPr>
          <a:lstStyle/>
          <a:p>
            <a:r>
              <a:rPr lang="en-US" sz="1800" b="0" i="0" dirty="0">
                <a:solidFill>
                  <a:srgbClr val="000000"/>
                </a:solidFill>
                <a:effectLst/>
              </a:rPr>
              <a:t>Data Protection – both in storage and </a:t>
            </a:r>
            <a:r>
              <a:rPr lang="en-US" sz="1800" b="0" i="0" dirty="0" smtClean="0">
                <a:solidFill>
                  <a:srgbClr val="000000"/>
                </a:solidFill>
                <a:effectLst/>
              </a:rPr>
              <a:t>transfer</a:t>
            </a:r>
            <a:endParaRPr lang="en-US" sz="1800" b="0" i="0" dirty="0">
              <a:solidFill>
                <a:srgbClr val="000000"/>
              </a:solidFill>
              <a:effectLst/>
            </a:endParaRPr>
          </a:p>
          <a:p>
            <a:r>
              <a:rPr lang="en-US" sz="1800" b="0" i="0" dirty="0">
                <a:solidFill>
                  <a:srgbClr val="000000"/>
                </a:solidFill>
                <a:effectLst/>
              </a:rPr>
              <a:t>User Authentication – access logs/audit trails</a:t>
            </a:r>
          </a:p>
          <a:p>
            <a:r>
              <a:rPr lang="en-US" sz="1800" b="0" i="0" dirty="0">
                <a:solidFill>
                  <a:srgbClr val="000000"/>
                </a:solidFill>
                <a:effectLst/>
              </a:rPr>
              <a:t>Contingency Planning – recovery</a:t>
            </a:r>
          </a:p>
          <a:p>
            <a:r>
              <a:rPr lang="en-US" sz="1800" b="0" i="0" dirty="0">
                <a:solidFill>
                  <a:srgbClr val="000000"/>
                </a:solidFill>
                <a:effectLst/>
              </a:rPr>
              <a:t>Service Provider Visibility &amp; Translating Enterprise Requirements into the Cloud</a:t>
            </a:r>
          </a:p>
          <a:p>
            <a:r>
              <a:rPr lang="en-US" sz="1800" dirty="0">
                <a:solidFill>
                  <a:srgbClr val="000000"/>
                </a:solidFill>
              </a:rPr>
              <a:t>I</a:t>
            </a:r>
            <a:r>
              <a:rPr lang="en-US" sz="1800" b="0" i="0" dirty="0">
                <a:solidFill>
                  <a:srgbClr val="000000"/>
                </a:solidFill>
                <a:effectLst/>
              </a:rPr>
              <a:t>nsider threat</a:t>
            </a:r>
          </a:p>
          <a:p>
            <a:r>
              <a:rPr lang="en-US" sz="1800" b="0" i="0" dirty="0">
                <a:solidFill>
                  <a:srgbClr val="000000"/>
                </a:solidFill>
                <a:effectLst/>
              </a:rPr>
              <a:t>Attacks like virtual host confusion</a:t>
            </a:r>
          </a:p>
          <a:p>
            <a:r>
              <a:rPr lang="en-US" sz="1800" b="0" i="0" dirty="0">
                <a:solidFill>
                  <a:srgbClr val="000000"/>
                </a:solidFill>
                <a:effectLst/>
              </a:rPr>
              <a:t>Shadow IT - inability of IT to monitor the activities of the user</a:t>
            </a:r>
          </a:p>
          <a:p>
            <a:r>
              <a:rPr lang="en-US" sz="1800" b="0" i="0" dirty="0">
                <a:solidFill>
                  <a:srgbClr val="000000"/>
                </a:solidFill>
                <a:effectLst/>
              </a:rPr>
              <a:t>Resource location</a:t>
            </a:r>
          </a:p>
          <a:p>
            <a:r>
              <a:rPr lang="en-US" sz="1800" b="0" i="0" dirty="0">
                <a:solidFill>
                  <a:srgbClr val="000000"/>
                </a:solidFill>
                <a:effectLst/>
              </a:rPr>
              <a:t>Multi-tenancy issue</a:t>
            </a:r>
          </a:p>
          <a:p>
            <a:r>
              <a:rPr lang="en-US" sz="1800" b="0" i="0" dirty="0">
                <a:solidFill>
                  <a:srgbClr val="000000"/>
                </a:solidFill>
                <a:effectLst/>
              </a:rPr>
              <a:t>System monitoring and logs</a:t>
            </a:r>
          </a:p>
          <a:p>
            <a:r>
              <a:rPr lang="en-US" sz="1800" b="0" i="0" dirty="0">
                <a:solidFill>
                  <a:srgbClr val="000000"/>
                </a:solidFill>
                <a:effectLst/>
              </a:rPr>
              <a:t>Cloud standards</a:t>
            </a:r>
          </a:p>
          <a:p>
            <a:r>
              <a:rPr lang="en-US" sz="1800" b="0" i="0" dirty="0" smtClean="0">
                <a:solidFill>
                  <a:srgbClr val="000000"/>
                </a:solidFill>
                <a:effectLst/>
              </a:rPr>
              <a:t>SLA</a:t>
            </a:r>
            <a:endParaRPr lang="en-US" dirty="0"/>
          </a:p>
        </p:txBody>
      </p:sp>
    </p:spTree>
    <p:extLst>
      <p:ext uri="{BB962C8B-B14F-4D97-AF65-F5344CB8AC3E}">
        <p14:creationId xmlns:p14="http://schemas.microsoft.com/office/powerpoint/2010/main" val="15228875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9D5471-0308-2C11-F79E-A970C8A59AAE}"/>
              </a:ext>
            </a:extLst>
          </p:cNvPr>
          <p:cNvSpPr>
            <a:spLocks noGrp="1"/>
          </p:cNvSpPr>
          <p:nvPr>
            <p:ph type="title"/>
          </p:nvPr>
        </p:nvSpPr>
        <p:spPr/>
        <p:txBody>
          <a:bodyPr/>
          <a:lstStyle/>
          <a:p>
            <a:r>
              <a:rPr lang="en-US" dirty="0"/>
              <a:t>Software-as-a-service Security</a:t>
            </a:r>
          </a:p>
        </p:txBody>
      </p:sp>
      <p:sp>
        <p:nvSpPr>
          <p:cNvPr id="3" name="Content Placeholder 2">
            <a:extLst>
              <a:ext uri="{FF2B5EF4-FFF2-40B4-BE49-F238E27FC236}">
                <a16:creationId xmlns:a16="http://schemas.microsoft.com/office/drawing/2014/main" xmlns="" id="{94D4543F-E0FB-5F90-D208-B608A4794AC9}"/>
              </a:ext>
            </a:extLst>
          </p:cNvPr>
          <p:cNvSpPr>
            <a:spLocks noGrp="1"/>
          </p:cNvSpPr>
          <p:nvPr>
            <p:ph idx="1"/>
          </p:nvPr>
        </p:nvSpPr>
        <p:spPr/>
        <p:txBody>
          <a:bodyPr>
            <a:normAutofit/>
          </a:bodyPr>
          <a:lstStyle/>
          <a:p>
            <a:r>
              <a:rPr lang="en-US" b="0" i="0" dirty="0">
                <a:solidFill>
                  <a:srgbClr val="000000"/>
                </a:solidFill>
                <a:effectLst/>
              </a:rPr>
              <a:t>In this model, enterprise data is stored at the SaaS provider's data center, along with the data of other enterprises</a:t>
            </a:r>
          </a:p>
          <a:p>
            <a:r>
              <a:rPr lang="en-US" b="0" i="0" dirty="0">
                <a:solidFill>
                  <a:srgbClr val="000000"/>
                </a:solidFill>
                <a:effectLst/>
              </a:rPr>
              <a:t>Strong concerns about</a:t>
            </a:r>
          </a:p>
          <a:p>
            <a:pPr lvl="1"/>
            <a:r>
              <a:rPr lang="en-US" dirty="0">
                <a:solidFill>
                  <a:srgbClr val="000000"/>
                </a:solidFill>
              </a:rPr>
              <a:t>D</a:t>
            </a:r>
            <a:r>
              <a:rPr lang="en-US" b="0" i="0" dirty="0">
                <a:solidFill>
                  <a:srgbClr val="000000"/>
                </a:solidFill>
                <a:effectLst/>
              </a:rPr>
              <a:t>ata breaches</a:t>
            </a:r>
          </a:p>
          <a:p>
            <a:pPr lvl="1"/>
            <a:r>
              <a:rPr lang="en-US" dirty="0">
                <a:solidFill>
                  <a:srgbClr val="000000"/>
                </a:solidFill>
              </a:rPr>
              <a:t>A</a:t>
            </a:r>
            <a:r>
              <a:rPr lang="en-US" b="0" i="0" dirty="0">
                <a:solidFill>
                  <a:srgbClr val="000000"/>
                </a:solidFill>
                <a:effectLst/>
              </a:rPr>
              <a:t>pplication vulnerabilities</a:t>
            </a:r>
          </a:p>
          <a:p>
            <a:pPr lvl="1"/>
            <a:r>
              <a:rPr lang="en-US" dirty="0">
                <a:solidFill>
                  <a:srgbClr val="000000"/>
                </a:solidFill>
              </a:rPr>
              <a:t>A</a:t>
            </a:r>
            <a:r>
              <a:rPr lang="en-US" b="0" i="0" dirty="0">
                <a:solidFill>
                  <a:srgbClr val="000000"/>
                </a:solidFill>
                <a:effectLst/>
              </a:rPr>
              <a:t>vailability that can lead to financial and legal </a:t>
            </a:r>
            <a:r>
              <a:rPr lang="en-US" b="0" i="0" dirty="0" smtClean="0">
                <a:solidFill>
                  <a:srgbClr val="000000"/>
                </a:solidFill>
                <a:effectLst/>
              </a:rPr>
              <a:t>responsibilities</a:t>
            </a:r>
            <a:r>
              <a:rPr lang="en-US" sz="3600" dirty="0"/>
              <a:t/>
            </a:r>
            <a:br>
              <a:rPr lang="en-US" sz="3600" dirty="0"/>
            </a:br>
            <a:endParaRPr lang="en-US" sz="3600" dirty="0"/>
          </a:p>
        </p:txBody>
      </p:sp>
    </p:spTree>
    <p:extLst>
      <p:ext uri="{BB962C8B-B14F-4D97-AF65-F5344CB8AC3E}">
        <p14:creationId xmlns:p14="http://schemas.microsoft.com/office/powerpoint/2010/main" val="2151925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57FF31-A9D5-AED3-A7EC-99493CCA6B9E}"/>
              </a:ext>
            </a:extLst>
          </p:cNvPr>
          <p:cNvSpPr>
            <a:spLocks noGrp="1"/>
          </p:cNvSpPr>
          <p:nvPr>
            <p:ph type="title"/>
          </p:nvPr>
        </p:nvSpPr>
        <p:spPr/>
        <p:txBody>
          <a:bodyPr/>
          <a:lstStyle/>
          <a:p>
            <a:r>
              <a:rPr lang="en-US" dirty="0"/>
              <a:t>Software-as-a-service Security</a:t>
            </a:r>
          </a:p>
        </p:txBody>
      </p:sp>
      <p:pic>
        <p:nvPicPr>
          <p:cNvPr id="5" name="Content Placeholder 4">
            <a:extLst>
              <a:ext uri="{FF2B5EF4-FFF2-40B4-BE49-F238E27FC236}">
                <a16:creationId xmlns:a16="http://schemas.microsoft.com/office/drawing/2014/main" xmlns="" id="{E1C6B245-A926-CE31-F0C7-25C6EE8B2716}"/>
              </a:ext>
            </a:extLst>
          </p:cNvPr>
          <p:cNvPicPr>
            <a:picLocks noGrp="1" noChangeAspect="1"/>
          </p:cNvPicPr>
          <p:nvPr>
            <p:ph idx="1"/>
          </p:nvPr>
        </p:nvPicPr>
        <p:blipFill>
          <a:blip r:embed="rId2"/>
          <a:stretch>
            <a:fillRect/>
          </a:stretch>
        </p:blipFill>
        <p:spPr>
          <a:xfrm>
            <a:off x="1820092" y="1494698"/>
            <a:ext cx="8220891" cy="4957637"/>
          </a:xfrm>
        </p:spPr>
      </p:pic>
    </p:spTree>
    <p:extLst>
      <p:ext uri="{BB962C8B-B14F-4D97-AF65-F5344CB8AC3E}">
        <p14:creationId xmlns:p14="http://schemas.microsoft.com/office/powerpoint/2010/main" val="1181607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B5A4A-F372-73B3-4F16-BC2F373B1801}"/>
              </a:ext>
            </a:extLst>
          </p:cNvPr>
          <p:cNvSpPr>
            <a:spLocks noGrp="1"/>
          </p:cNvSpPr>
          <p:nvPr>
            <p:ph type="title"/>
          </p:nvPr>
        </p:nvSpPr>
        <p:spPr/>
        <p:txBody>
          <a:bodyPr/>
          <a:lstStyle/>
          <a:p>
            <a:r>
              <a:rPr lang="en-US" dirty="0"/>
              <a:t>Software-as-a-service Security</a:t>
            </a:r>
          </a:p>
        </p:txBody>
      </p:sp>
      <p:sp>
        <p:nvSpPr>
          <p:cNvPr id="3" name="Content Placeholder 2">
            <a:extLst>
              <a:ext uri="{FF2B5EF4-FFF2-40B4-BE49-F238E27FC236}">
                <a16:creationId xmlns:a16="http://schemas.microsoft.com/office/drawing/2014/main" xmlns="" id="{0C1336DB-6C47-5EA8-5C64-6DF5E98C501E}"/>
              </a:ext>
            </a:extLst>
          </p:cNvPr>
          <p:cNvSpPr>
            <a:spLocks noGrp="1"/>
          </p:cNvSpPr>
          <p:nvPr>
            <p:ph idx="1"/>
          </p:nvPr>
        </p:nvSpPr>
        <p:spPr/>
        <p:txBody>
          <a:bodyPr>
            <a:normAutofit/>
          </a:bodyPr>
          <a:lstStyle/>
          <a:p>
            <a:r>
              <a:rPr lang="en-US" i="0" dirty="0">
                <a:solidFill>
                  <a:srgbClr val="000000"/>
                </a:solidFill>
                <a:effectLst/>
              </a:rPr>
              <a:t>Seven security issues to be discussed with cloud vendor by customer</a:t>
            </a:r>
            <a:endParaRPr lang="en-US" dirty="0"/>
          </a:p>
        </p:txBody>
      </p:sp>
      <p:pic>
        <p:nvPicPr>
          <p:cNvPr id="5" name="Picture 4">
            <a:extLst>
              <a:ext uri="{FF2B5EF4-FFF2-40B4-BE49-F238E27FC236}">
                <a16:creationId xmlns:a16="http://schemas.microsoft.com/office/drawing/2014/main" xmlns="" id="{E2079819-9798-4A69-07B7-04C5E0815801}"/>
              </a:ext>
            </a:extLst>
          </p:cNvPr>
          <p:cNvPicPr>
            <a:picLocks noChangeAspect="1"/>
          </p:cNvPicPr>
          <p:nvPr/>
        </p:nvPicPr>
        <p:blipFill>
          <a:blip r:embed="rId2"/>
          <a:stretch>
            <a:fillRect/>
          </a:stretch>
        </p:blipFill>
        <p:spPr>
          <a:xfrm>
            <a:off x="4990691" y="2963636"/>
            <a:ext cx="4962525" cy="2933700"/>
          </a:xfrm>
          <a:prstGeom prst="rect">
            <a:avLst/>
          </a:prstGeom>
        </p:spPr>
      </p:pic>
    </p:spTree>
    <p:extLst>
      <p:ext uri="{BB962C8B-B14F-4D97-AF65-F5344CB8AC3E}">
        <p14:creationId xmlns:p14="http://schemas.microsoft.com/office/powerpoint/2010/main" val="1525400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92A700-D1A4-0B97-E3FE-F2EF1F817EE5}"/>
              </a:ext>
            </a:extLst>
          </p:cNvPr>
          <p:cNvSpPr>
            <a:spLocks noGrp="1"/>
          </p:cNvSpPr>
          <p:nvPr>
            <p:ph type="title"/>
          </p:nvPr>
        </p:nvSpPr>
        <p:spPr/>
        <p:txBody>
          <a:bodyPr/>
          <a:lstStyle/>
          <a:p>
            <a:r>
              <a:rPr lang="en-US" dirty="0"/>
              <a:t>Security Issues</a:t>
            </a:r>
          </a:p>
        </p:txBody>
      </p:sp>
      <p:sp>
        <p:nvSpPr>
          <p:cNvPr id="3" name="Content Placeholder 2">
            <a:extLst>
              <a:ext uri="{FF2B5EF4-FFF2-40B4-BE49-F238E27FC236}">
                <a16:creationId xmlns:a16="http://schemas.microsoft.com/office/drawing/2014/main" xmlns="" id="{4A64BD42-6274-D8D6-7206-C90424AC148E}"/>
              </a:ext>
            </a:extLst>
          </p:cNvPr>
          <p:cNvSpPr>
            <a:spLocks noGrp="1"/>
          </p:cNvSpPr>
          <p:nvPr>
            <p:ph idx="1"/>
          </p:nvPr>
        </p:nvSpPr>
        <p:spPr/>
        <p:txBody>
          <a:bodyPr>
            <a:normAutofit/>
          </a:bodyPr>
          <a:lstStyle/>
          <a:p>
            <a:r>
              <a:rPr lang="en-US" b="1" i="0" dirty="0">
                <a:solidFill>
                  <a:srgbClr val="000000"/>
                </a:solidFill>
                <a:effectLst/>
              </a:rPr>
              <a:t>Investigative support</a:t>
            </a:r>
            <a:br>
              <a:rPr lang="en-US" b="1" i="0" dirty="0">
                <a:solidFill>
                  <a:srgbClr val="000000"/>
                </a:solidFill>
                <a:effectLst/>
              </a:rPr>
            </a:br>
            <a:r>
              <a:rPr lang="en-US" b="0" i="0" dirty="0">
                <a:solidFill>
                  <a:srgbClr val="000000"/>
                </a:solidFill>
                <a:effectLst/>
              </a:rPr>
              <a:t>Does the vendor have the ability to investigate any inappropriate or illegal activity?</a:t>
            </a:r>
            <a:endParaRPr lang="en-US" dirty="0">
              <a:solidFill>
                <a:srgbClr val="000000"/>
              </a:solidFill>
            </a:endParaRPr>
          </a:p>
          <a:p>
            <a:r>
              <a:rPr lang="en-US" b="1" i="0" dirty="0">
                <a:solidFill>
                  <a:srgbClr val="000000"/>
                </a:solidFill>
                <a:effectLst/>
              </a:rPr>
              <a:t>Regulatory compliance</a:t>
            </a:r>
            <a:br>
              <a:rPr lang="en-US" b="1" i="0" dirty="0">
                <a:solidFill>
                  <a:srgbClr val="000000"/>
                </a:solidFill>
                <a:effectLst/>
              </a:rPr>
            </a:br>
            <a:r>
              <a:rPr lang="en-US" b="0" i="0" dirty="0">
                <a:solidFill>
                  <a:srgbClr val="000000"/>
                </a:solidFill>
                <a:effectLst/>
              </a:rPr>
              <a:t>Make sure that the vendor is willing to </a:t>
            </a:r>
            <a:r>
              <a:rPr lang="en-US" b="0" i="0" dirty="0" smtClean="0">
                <a:solidFill>
                  <a:srgbClr val="000000"/>
                </a:solidFill>
                <a:effectLst/>
              </a:rPr>
              <a:t>experience </a:t>
            </a:r>
            <a:r>
              <a:rPr lang="en-US" b="0" i="0" dirty="0">
                <a:solidFill>
                  <a:srgbClr val="000000"/>
                </a:solidFill>
                <a:effectLst/>
              </a:rPr>
              <a:t>external audits and/or security certifications</a:t>
            </a:r>
            <a:endParaRPr lang="en-US" dirty="0">
              <a:solidFill>
                <a:srgbClr val="000000"/>
              </a:solidFill>
            </a:endParaRPr>
          </a:p>
          <a:p>
            <a:r>
              <a:rPr lang="en-US" b="1" i="0" dirty="0">
                <a:solidFill>
                  <a:srgbClr val="000000"/>
                </a:solidFill>
                <a:effectLst/>
              </a:rPr>
              <a:t>Data location</a:t>
            </a:r>
            <a:br>
              <a:rPr lang="en-US" b="1" i="0" dirty="0">
                <a:solidFill>
                  <a:srgbClr val="000000"/>
                </a:solidFill>
                <a:effectLst/>
              </a:rPr>
            </a:br>
            <a:r>
              <a:rPr lang="en-US" b="0" i="0" dirty="0">
                <a:solidFill>
                  <a:srgbClr val="000000"/>
                </a:solidFill>
                <a:effectLst/>
              </a:rPr>
              <a:t>Does the provider allow for any control over the location of data?</a:t>
            </a:r>
            <a:r>
              <a:rPr lang="en-US" dirty="0"/>
              <a:t> </a:t>
            </a:r>
            <a:br>
              <a:rPr lang="en-US" dirty="0"/>
            </a:br>
            <a:endParaRPr lang="en-US" dirty="0"/>
          </a:p>
        </p:txBody>
      </p:sp>
    </p:spTree>
    <p:extLst>
      <p:ext uri="{BB962C8B-B14F-4D97-AF65-F5344CB8AC3E}">
        <p14:creationId xmlns:p14="http://schemas.microsoft.com/office/powerpoint/2010/main" val="940273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8C17ED-5523-946A-4229-5B154BAC1A0A}"/>
              </a:ext>
            </a:extLst>
          </p:cNvPr>
          <p:cNvSpPr>
            <a:spLocks noGrp="1"/>
          </p:cNvSpPr>
          <p:nvPr>
            <p:ph type="title"/>
          </p:nvPr>
        </p:nvSpPr>
        <p:spPr/>
        <p:txBody>
          <a:bodyPr/>
          <a:lstStyle/>
          <a:p>
            <a:r>
              <a:rPr lang="en-US" dirty="0"/>
              <a:t>Security Issues</a:t>
            </a:r>
          </a:p>
        </p:txBody>
      </p:sp>
      <p:sp>
        <p:nvSpPr>
          <p:cNvPr id="3" name="Content Placeholder 2">
            <a:extLst>
              <a:ext uri="{FF2B5EF4-FFF2-40B4-BE49-F238E27FC236}">
                <a16:creationId xmlns:a16="http://schemas.microsoft.com/office/drawing/2014/main" xmlns="" id="{BE8A8310-E415-74FB-B8A9-C4D92FF506C2}"/>
              </a:ext>
            </a:extLst>
          </p:cNvPr>
          <p:cNvSpPr>
            <a:spLocks noGrp="1"/>
          </p:cNvSpPr>
          <p:nvPr>
            <p:ph idx="1"/>
          </p:nvPr>
        </p:nvSpPr>
        <p:spPr/>
        <p:txBody>
          <a:bodyPr>
            <a:normAutofit/>
          </a:bodyPr>
          <a:lstStyle/>
          <a:p>
            <a:r>
              <a:rPr lang="en-US" b="1" i="0" dirty="0">
                <a:solidFill>
                  <a:srgbClr val="000000"/>
                </a:solidFill>
                <a:effectLst/>
              </a:rPr>
              <a:t>Data </a:t>
            </a:r>
            <a:r>
              <a:rPr lang="en-US" b="1" i="0" dirty="0" smtClean="0">
                <a:solidFill>
                  <a:srgbClr val="000000"/>
                </a:solidFill>
                <a:effectLst/>
              </a:rPr>
              <a:t>separation</a:t>
            </a:r>
            <a:r>
              <a:rPr lang="en-US" b="1" i="0" dirty="0">
                <a:solidFill>
                  <a:srgbClr val="000000"/>
                </a:solidFill>
                <a:effectLst/>
              </a:rPr>
              <a:t/>
            </a:r>
            <a:br>
              <a:rPr lang="en-US" b="1" i="0" dirty="0">
                <a:solidFill>
                  <a:srgbClr val="000000"/>
                </a:solidFill>
                <a:effectLst/>
              </a:rPr>
            </a:br>
            <a:r>
              <a:rPr lang="en-US" b="0" i="0" dirty="0">
                <a:solidFill>
                  <a:srgbClr val="000000"/>
                </a:solidFill>
                <a:effectLst/>
              </a:rPr>
              <a:t>Make sure that encryption is available at all stages, and that these encryption schemes were designed and tested by experienced professionals</a:t>
            </a:r>
            <a:endParaRPr lang="en-US" dirty="0">
              <a:solidFill>
                <a:srgbClr val="000000"/>
              </a:solidFill>
            </a:endParaRPr>
          </a:p>
          <a:p>
            <a:r>
              <a:rPr lang="en-US" b="1" i="0" dirty="0">
                <a:solidFill>
                  <a:srgbClr val="000000"/>
                </a:solidFill>
                <a:effectLst/>
              </a:rPr>
              <a:t>Recovery</a:t>
            </a:r>
          </a:p>
          <a:p>
            <a:pPr lvl="1"/>
            <a:r>
              <a:rPr lang="en-US" b="0" i="0" dirty="0">
                <a:solidFill>
                  <a:srgbClr val="000000"/>
                </a:solidFill>
                <a:effectLst/>
              </a:rPr>
              <a:t>Find out what will happen to data in the case of a disaster ?</a:t>
            </a:r>
          </a:p>
          <a:p>
            <a:pPr lvl="1"/>
            <a:r>
              <a:rPr lang="en-US" b="0" i="0" dirty="0">
                <a:solidFill>
                  <a:srgbClr val="000000"/>
                </a:solidFill>
                <a:effectLst/>
              </a:rPr>
              <a:t>Do they offer complete restoration? If so, how long would that take?</a:t>
            </a:r>
            <a:r>
              <a:rPr lang="en-US" dirty="0"/>
              <a:t> </a:t>
            </a:r>
            <a:br>
              <a:rPr lang="en-US" dirty="0"/>
            </a:br>
            <a:endParaRPr lang="en-US" dirty="0"/>
          </a:p>
        </p:txBody>
      </p:sp>
    </p:spTree>
    <p:extLst>
      <p:ext uri="{BB962C8B-B14F-4D97-AF65-F5344CB8AC3E}">
        <p14:creationId xmlns:p14="http://schemas.microsoft.com/office/powerpoint/2010/main" val="2303146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D02F34-9B9E-E47E-2246-FD15D1070750}"/>
              </a:ext>
            </a:extLst>
          </p:cNvPr>
          <p:cNvSpPr>
            <a:spLocks noGrp="1"/>
          </p:cNvSpPr>
          <p:nvPr>
            <p:ph type="title"/>
          </p:nvPr>
        </p:nvSpPr>
        <p:spPr/>
        <p:txBody>
          <a:bodyPr/>
          <a:lstStyle/>
          <a:p>
            <a:r>
              <a:rPr lang="en-US" dirty="0"/>
              <a:t>Security Issues</a:t>
            </a:r>
          </a:p>
        </p:txBody>
      </p:sp>
      <p:sp>
        <p:nvSpPr>
          <p:cNvPr id="3" name="Content Placeholder 2">
            <a:extLst>
              <a:ext uri="{FF2B5EF4-FFF2-40B4-BE49-F238E27FC236}">
                <a16:creationId xmlns:a16="http://schemas.microsoft.com/office/drawing/2014/main" xmlns="" id="{C8FE8CC6-5BA5-23FC-9A1C-A2DA82802329}"/>
              </a:ext>
            </a:extLst>
          </p:cNvPr>
          <p:cNvSpPr>
            <a:spLocks noGrp="1"/>
          </p:cNvSpPr>
          <p:nvPr>
            <p:ph idx="1"/>
          </p:nvPr>
        </p:nvSpPr>
        <p:spPr/>
        <p:txBody>
          <a:bodyPr>
            <a:normAutofit/>
          </a:bodyPr>
          <a:lstStyle/>
          <a:p>
            <a:r>
              <a:rPr lang="en-US" b="1" i="0" dirty="0">
                <a:solidFill>
                  <a:srgbClr val="000000"/>
                </a:solidFill>
                <a:effectLst/>
              </a:rPr>
              <a:t>Privileged user access</a:t>
            </a:r>
            <a:br>
              <a:rPr lang="en-US" b="1" i="0" dirty="0">
                <a:solidFill>
                  <a:srgbClr val="000000"/>
                </a:solidFill>
                <a:effectLst/>
              </a:rPr>
            </a:br>
            <a:r>
              <a:rPr lang="en-US" b="0" i="0" dirty="0">
                <a:solidFill>
                  <a:srgbClr val="000000"/>
                </a:solidFill>
                <a:effectLst/>
              </a:rPr>
              <a:t>Inquire about who has specialized access to data, and about the hiring and management of such administrators</a:t>
            </a:r>
          </a:p>
          <a:p>
            <a:r>
              <a:rPr lang="en-US" b="1" i="0" dirty="0">
                <a:solidFill>
                  <a:srgbClr val="000000"/>
                </a:solidFill>
                <a:effectLst/>
              </a:rPr>
              <a:t>Long-term </a:t>
            </a:r>
            <a:r>
              <a:rPr lang="en-US" b="1" i="0" dirty="0" smtClean="0">
                <a:solidFill>
                  <a:srgbClr val="000000"/>
                </a:solidFill>
                <a:effectLst/>
              </a:rPr>
              <a:t>feasibility</a:t>
            </a:r>
            <a:r>
              <a:rPr lang="en-US" b="1" i="0" dirty="0">
                <a:solidFill>
                  <a:srgbClr val="000000"/>
                </a:solidFill>
                <a:effectLst/>
              </a:rPr>
              <a:t/>
            </a:r>
            <a:br>
              <a:rPr lang="en-US" b="1" i="0" dirty="0">
                <a:solidFill>
                  <a:srgbClr val="000000"/>
                </a:solidFill>
                <a:effectLst/>
              </a:rPr>
            </a:br>
            <a:r>
              <a:rPr lang="en-US" b="0" i="0" dirty="0">
                <a:solidFill>
                  <a:srgbClr val="000000"/>
                </a:solidFill>
                <a:effectLst/>
              </a:rPr>
              <a:t>What will happen to data if the company goes out of business?</a:t>
            </a:r>
            <a:br>
              <a:rPr lang="en-US" b="0" i="0" dirty="0">
                <a:solidFill>
                  <a:srgbClr val="000000"/>
                </a:solidFill>
                <a:effectLst/>
              </a:rPr>
            </a:br>
            <a:r>
              <a:rPr lang="en-US" b="0" i="0" dirty="0">
                <a:solidFill>
                  <a:srgbClr val="000000"/>
                </a:solidFill>
                <a:effectLst/>
              </a:rPr>
              <a:t>How will data be returned, and in what format?</a:t>
            </a:r>
            <a:r>
              <a:rPr lang="en-US" dirty="0"/>
              <a:t> </a:t>
            </a:r>
            <a:br>
              <a:rPr lang="en-US" dirty="0"/>
            </a:br>
            <a:endParaRPr lang="en-US" dirty="0"/>
          </a:p>
        </p:txBody>
      </p:sp>
    </p:spTree>
    <p:extLst>
      <p:ext uri="{BB962C8B-B14F-4D97-AF65-F5344CB8AC3E}">
        <p14:creationId xmlns:p14="http://schemas.microsoft.com/office/powerpoint/2010/main" val="2256623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7A9A63-4162-D00D-86CB-C2E4C7745F7D}"/>
              </a:ext>
            </a:extLst>
          </p:cNvPr>
          <p:cNvSpPr>
            <a:spLocks noGrp="1"/>
          </p:cNvSpPr>
          <p:nvPr>
            <p:ph type="title"/>
          </p:nvPr>
        </p:nvSpPr>
        <p:spPr/>
        <p:txBody>
          <a:bodyPr/>
          <a:lstStyle/>
          <a:p>
            <a:r>
              <a:rPr lang="en-US" dirty="0"/>
              <a:t>Security Issues</a:t>
            </a:r>
          </a:p>
        </p:txBody>
      </p:sp>
      <p:sp>
        <p:nvSpPr>
          <p:cNvPr id="3" name="Content Placeholder 2">
            <a:extLst>
              <a:ext uri="{FF2B5EF4-FFF2-40B4-BE49-F238E27FC236}">
                <a16:creationId xmlns:a16="http://schemas.microsoft.com/office/drawing/2014/main" xmlns="" id="{5E58C14A-0EC3-8DB9-0402-16058494D47C}"/>
              </a:ext>
            </a:extLst>
          </p:cNvPr>
          <p:cNvSpPr>
            <a:spLocks noGrp="1"/>
          </p:cNvSpPr>
          <p:nvPr>
            <p:ph idx="1"/>
          </p:nvPr>
        </p:nvSpPr>
        <p:spPr/>
        <p:txBody>
          <a:bodyPr>
            <a:normAutofit/>
          </a:bodyPr>
          <a:lstStyle/>
          <a:p>
            <a:r>
              <a:rPr lang="en-US" b="0" i="0" dirty="0">
                <a:solidFill>
                  <a:srgbClr val="000000"/>
                </a:solidFill>
                <a:effectLst/>
              </a:rPr>
              <a:t>To address the security issues, SaaS providers need to incorporate and enhance security practices used by the managed service providers</a:t>
            </a:r>
            <a:r>
              <a:rPr lang="en-US" dirty="0"/>
              <a:t/>
            </a:r>
            <a:br>
              <a:rPr lang="en-US" dirty="0"/>
            </a:br>
            <a:endParaRPr lang="en-US" dirty="0"/>
          </a:p>
        </p:txBody>
      </p:sp>
      <p:pic>
        <p:nvPicPr>
          <p:cNvPr id="5" name="Picture 4">
            <a:extLst>
              <a:ext uri="{FF2B5EF4-FFF2-40B4-BE49-F238E27FC236}">
                <a16:creationId xmlns:a16="http://schemas.microsoft.com/office/drawing/2014/main" xmlns="" id="{B450DE80-CB61-C265-0970-7AC74E571A4D}"/>
              </a:ext>
            </a:extLst>
          </p:cNvPr>
          <p:cNvPicPr>
            <a:picLocks noChangeAspect="1"/>
          </p:cNvPicPr>
          <p:nvPr/>
        </p:nvPicPr>
        <p:blipFill>
          <a:blip r:embed="rId2"/>
          <a:stretch>
            <a:fillRect/>
          </a:stretch>
        </p:blipFill>
        <p:spPr>
          <a:xfrm>
            <a:off x="3419067" y="3034606"/>
            <a:ext cx="5794602" cy="3050507"/>
          </a:xfrm>
          <a:prstGeom prst="rect">
            <a:avLst/>
          </a:prstGeom>
        </p:spPr>
      </p:pic>
    </p:spTree>
    <p:extLst>
      <p:ext uri="{BB962C8B-B14F-4D97-AF65-F5344CB8AC3E}">
        <p14:creationId xmlns:p14="http://schemas.microsoft.com/office/powerpoint/2010/main" val="2770703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7D15C4-9832-9AAF-0882-44F3D4E426F4}"/>
              </a:ext>
            </a:extLst>
          </p:cNvPr>
          <p:cNvSpPr>
            <a:spLocks noGrp="1"/>
          </p:cNvSpPr>
          <p:nvPr>
            <p:ph type="title"/>
          </p:nvPr>
        </p:nvSpPr>
        <p:spPr/>
        <p:txBody>
          <a:bodyPr/>
          <a:lstStyle/>
          <a:p>
            <a:r>
              <a:rPr lang="en-US" dirty="0"/>
              <a:t>Security Management (People)</a:t>
            </a:r>
          </a:p>
        </p:txBody>
      </p:sp>
      <p:sp>
        <p:nvSpPr>
          <p:cNvPr id="3" name="Content Placeholder 2">
            <a:extLst>
              <a:ext uri="{FF2B5EF4-FFF2-40B4-BE49-F238E27FC236}">
                <a16:creationId xmlns:a16="http://schemas.microsoft.com/office/drawing/2014/main" xmlns="" id="{58C379C4-D143-0D68-E02D-CEA534C2BCFE}"/>
              </a:ext>
            </a:extLst>
          </p:cNvPr>
          <p:cNvSpPr>
            <a:spLocks noGrp="1"/>
          </p:cNvSpPr>
          <p:nvPr>
            <p:ph idx="1"/>
          </p:nvPr>
        </p:nvSpPr>
        <p:spPr/>
        <p:txBody>
          <a:bodyPr>
            <a:normAutofit/>
          </a:bodyPr>
          <a:lstStyle/>
          <a:p>
            <a:r>
              <a:rPr lang="en-US" b="0" i="0" dirty="0">
                <a:solidFill>
                  <a:srgbClr val="000000"/>
                </a:solidFill>
                <a:effectLst/>
              </a:rPr>
              <a:t>Develop a formal charter for the security organization and program</a:t>
            </a:r>
          </a:p>
          <a:p>
            <a:r>
              <a:rPr lang="en-US" dirty="0">
                <a:solidFill>
                  <a:srgbClr val="000000"/>
                </a:solidFill>
              </a:rPr>
              <a:t>A</a:t>
            </a:r>
            <a:r>
              <a:rPr lang="en-US" b="0" i="0" dirty="0">
                <a:solidFill>
                  <a:srgbClr val="000000"/>
                </a:solidFill>
                <a:effectLst/>
              </a:rPr>
              <a:t> shared vision among the team of what security leadership is</a:t>
            </a:r>
          </a:p>
          <a:p>
            <a:r>
              <a:rPr lang="en-US" b="0" i="0" dirty="0">
                <a:solidFill>
                  <a:srgbClr val="000000"/>
                </a:solidFill>
                <a:effectLst/>
              </a:rPr>
              <a:t>In aligned with the strategic plan of the organization or company the security team works for</a:t>
            </a:r>
          </a:p>
          <a:p>
            <a:r>
              <a:rPr lang="en-US" dirty="0">
                <a:solidFill>
                  <a:srgbClr val="000000"/>
                </a:solidFill>
              </a:rPr>
              <a:t>C</a:t>
            </a:r>
            <a:r>
              <a:rPr lang="en-US" b="0" i="0" dirty="0">
                <a:solidFill>
                  <a:srgbClr val="000000"/>
                </a:solidFill>
                <a:effectLst/>
              </a:rPr>
              <a:t>learly defined roles and responsibilities, and agreement on expectations and skills</a:t>
            </a:r>
            <a:r>
              <a:rPr lang="en-US" dirty="0"/>
              <a:t> </a:t>
            </a:r>
            <a:br>
              <a:rPr lang="en-US" dirty="0"/>
            </a:br>
            <a:endParaRPr lang="en-US" dirty="0"/>
          </a:p>
        </p:txBody>
      </p:sp>
    </p:spTree>
    <p:extLst>
      <p:ext uri="{BB962C8B-B14F-4D97-AF65-F5344CB8AC3E}">
        <p14:creationId xmlns:p14="http://schemas.microsoft.com/office/powerpoint/2010/main" val="3502294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68B0D5-F813-79EB-770B-5909F0F14CB6}"/>
              </a:ext>
            </a:extLst>
          </p:cNvPr>
          <p:cNvSpPr>
            <a:spLocks noGrp="1"/>
          </p:cNvSpPr>
          <p:nvPr>
            <p:ph type="title"/>
          </p:nvPr>
        </p:nvSpPr>
        <p:spPr/>
        <p:txBody>
          <a:bodyPr/>
          <a:lstStyle/>
          <a:p>
            <a:r>
              <a:rPr lang="en-US" dirty="0"/>
              <a:t>Security Governance </a:t>
            </a:r>
          </a:p>
        </p:txBody>
      </p:sp>
      <p:pic>
        <p:nvPicPr>
          <p:cNvPr id="5" name="Content Placeholder 4">
            <a:extLst>
              <a:ext uri="{FF2B5EF4-FFF2-40B4-BE49-F238E27FC236}">
                <a16:creationId xmlns:a16="http://schemas.microsoft.com/office/drawing/2014/main" xmlns="" id="{8A5FF1D1-2B6D-2B14-687A-30A70A5B24DF}"/>
              </a:ext>
            </a:extLst>
          </p:cNvPr>
          <p:cNvPicPr>
            <a:picLocks noGrp="1" noChangeAspect="1"/>
          </p:cNvPicPr>
          <p:nvPr>
            <p:ph idx="1"/>
          </p:nvPr>
        </p:nvPicPr>
        <p:blipFill>
          <a:blip r:embed="rId2"/>
          <a:stretch>
            <a:fillRect/>
          </a:stretch>
        </p:blipFill>
        <p:spPr>
          <a:xfrm>
            <a:off x="2521687" y="1825625"/>
            <a:ext cx="7148626" cy="4351338"/>
          </a:xfrm>
        </p:spPr>
      </p:pic>
    </p:spTree>
    <p:extLst>
      <p:ext uri="{BB962C8B-B14F-4D97-AF65-F5344CB8AC3E}">
        <p14:creationId xmlns:p14="http://schemas.microsoft.com/office/powerpoint/2010/main" val="659527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54F833E-FDE7-B844-D9C6-8F0CCFBDF16D}"/>
              </a:ext>
            </a:extLst>
          </p:cNvPr>
          <p:cNvSpPr>
            <a:spLocks noGrp="1"/>
          </p:cNvSpPr>
          <p:nvPr>
            <p:ph type="title"/>
          </p:nvPr>
        </p:nvSpPr>
        <p:spPr/>
        <p:txBody>
          <a:bodyPr/>
          <a:lstStyle/>
          <a:p>
            <a:r>
              <a:rPr lang="en-US" dirty="0"/>
              <a:t>Security Governance </a:t>
            </a:r>
          </a:p>
        </p:txBody>
      </p:sp>
      <p:sp>
        <p:nvSpPr>
          <p:cNvPr id="3" name="Content Placeholder 2">
            <a:extLst>
              <a:ext uri="{FF2B5EF4-FFF2-40B4-BE49-F238E27FC236}">
                <a16:creationId xmlns:a16="http://schemas.microsoft.com/office/drawing/2014/main" xmlns="" id="{E3298E12-E6C5-47B9-7CB0-4CDB8BD082A9}"/>
              </a:ext>
            </a:extLst>
          </p:cNvPr>
          <p:cNvSpPr>
            <a:spLocks noGrp="1"/>
          </p:cNvSpPr>
          <p:nvPr>
            <p:ph idx="1"/>
          </p:nvPr>
        </p:nvSpPr>
        <p:spPr/>
        <p:txBody>
          <a:bodyPr>
            <a:normAutofit/>
          </a:bodyPr>
          <a:lstStyle/>
          <a:p>
            <a:r>
              <a:rPr lang="en-US" b="0" i="0" dirty="0">
                <a:solidFill>
                  <a:srgbClr val="000000"/>
                </a:solidFill>
                <a:effectLst/>
              </a:rPr>
              <a:t>A security steering committee with objective of focusing on providing guidance about security initiatives and </a:t>
            </a:r>
            <a:r>
              <a:rPr lang="en-US" b="0" i="0" dirty="0" smtClean="0">
                <a:solidFill>
                  <a:srgbClr val="000000"/>
                </a:solidFill>
                <a:effectLst/>
              </a:rPr>
              <a:t>arrangement </a:t>
            </a:r>
            <a:r>
              <a:rPr lang="en-US" b="0" i="0" dirty="0">
                <a:solidFill>
                  <a:srgbClr val="000000"/>
                </a:solidFill>
                <a:effectLst/>
              </a:rPr>
              <a:t>with business strategies</a:t>
            </a:r>
          </a:p>
          <a:p>
            <a:r>
              <a:rPr lang="en-US" b="0" i="0" dirty="0">
                <a:solidFill>
                  <a:srgbClr val="000000"/>
                </a:solidFill>
                <a:effectLst/>
              </a:rPr>
              <a:t>Clearly define the roles and responsibilities of the security team and other groups involved in performing information security functions</a:t>
            </a:r>
          </a:p>
          <a:p>
            <a:r>
              <a:rPr lang="en-US" b="0" i="0" dirty="0">
                <a:solidFill>
                  <a:srgbClr val="000000"/>
                </a:solidFill>
                <a:effectLst/>
              </a:rPr>
              <a:t>Security team is one of first deliverables from the steering committee.</a:t>
            </a:r>
            <a:r>
              <a:rPr lang="en-US" dirty="0"/>
              <a:t> </a:t>
            </a:r>
            <a:br>
              <a:rPr lang="en-US" dirty="0"/>
            </a:br>
            <a:endParaRPr lang="en-US" dirty="0"/>
          </a:p>
        </p:txBody>
      </p:sp>
    </p:spTree>
    <p:extLst>
      <p:ext uri="{BB962C8B-B14F-4D97-AF65-F5344CB8AC3E}">
        <p14:creationId xmlns:p14="http://schemas.microsoft.com/office/powerpoint/2010/main" val="29508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77A1B5-3197-4507-8AAA-A7F5FA928E46}"/>
              </a:ext>
            </a:extLst>
          </p:cNvPr>
          <p:cNvSpPr>
            <a:spLocks noGrp="1"/>
          </p:cNvSpPr>
          <p:nvPr>
            <p:ph type="title"/>
          </p:nvPr>
        </p:nvSpPr>
        <p:spPr/>
        <p:txBody>
          <a:bodyPr/>
          <a:lstStyle/>
          <a:p>
            <a:r>
              <a:rPr lang="en-US" dirty="0"/>
              <a:t>Security Governance </a:t>
            </a:r>
          </a:p>
        </p:txBody>
      </p:sp>
      <p:pic>
        <p:nvPicPr>
          <p:cNvPr id="5" name="Content Placeholder 4">
            <a:extLst>
              <a:ext uri="{FF2B5EF4-FFF2-40B4-BE49-F238E27FC236}">
                <a16:creationId xmlns:a16="http://schemas.microsoft.com/office/drawing/2014/main" xmlns="" id="{9234E933-B163-F80C-7AD2-2B1D062A7319}"/>
              </a:ext>
            </a:extLst>
          </p:cNvPr>
          <p:cNvPicPr>
            <a:picLocks noGrp="1" noChangeAspect="1"/>
          </p:cNvPicPr>
          <p:nvPr>
            <p:ph idx="1"/>
          </p:nvPr>
        </p:nvPicPr>
        <p:blipFill>
          <a:blip r:embed="rId2"/>
          <a:stretch>
            <a:fillRect/>
          </a:stretch>
        </p:blipFill>
        <p:spPr>
          <a:xfrm>
            <a:off x="2475346" y="1825625"/>
            <a:ext cx="7241307" cy="4351338"/>
          </a:xfrm>
        </p:spPr>
      </p:pic>
    </p:spTree>
    <p:extLst>
      <p:ext uri="{BB962C8B-B14F-4D97-AF65-F5344CB8AC3E}">
        <p14:creationId xmlns:p14="http://schemas.microsoft.com/office/powerpoint/2010/main" val="2370324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719792-B596-94B3-B5FD-28F58F88B586}"/>
              </a:ext>
            </a:extLst>
          </p:cNvPr>
          <p:cNvSpPr>
            <a:spLocks noGrp="1"/>
          </p:cNvSpPr>
          <p:nvPr>
            <p:ph type="title"/>
          </p:nvPr>
        </p:nvSpPr>
        <p:spPr/>
        <p:txBody>
          <a:bodyPr/>
          <a:lstStyle/>
          <a:p>
            <a:r>
              <a:rPr lang="en-US" dirty="0"/>
              <a:t>Security Governance</a:t>
            </a:r>
          </a:p>
        </p:txBody>
      </p:sp>
      <p:sp>
        <p:nvSpPr>
          <p:cNvPr id="3" name="Content Placeholder 2">
            <a:extLst>
              <a:ext uri="{FF2B5EF4-FFF2-40B4-BE49-F238E27FC236}">
                <a16:creationId xmlns:a16="http://schemas.microsoft.com/office/drawing/2014/main" xmlns="" id="{E065BE02-5320-22C8-CE6A-E95EFFF137B9}"/>
              </a:ext>
            </a:extLst>
          </p:cNvPr>
          <p:cNvSpPr>
            <a:spLocks noGrp="1"/>
          </p:cNvSpPr>
          <p:nvPr>
            <p:ph idx="1"/>
          </p:nvPr>
        </p:nvSpPr>
        <p:spPr/>
        <p:txBody>
          <a:bodyPr>
            <a:normAutofit fontScale="92500" lnSpcReduction="10000"/>
          </a:bodyPr>
          <a:lstStyle/>
          <a:p>
            <a:r>
              <a:rPr lang="en-US" sz="1800" b="1" i="0" dirty="0">
                <a:solidFill>
                  <a:srgbClr val="000000"/>
                </a:solidFill>
                <a:effectLst/>
                <a:latin typeface="Times New Roman" panose="02020603050405020304" pitchFamily="18" charset="0"/>
              </a:rPr>
              <a:t>Start with your people: </a:t>
            </a:r>
            <a:r>
              <a:rPr lang="en-US" sz="1800" b="0" i="0" dirty="0">
                <a:solidFill>
                  <a:srgbClr val="000000"/>
                </a:solidFill>
                <a:effectLst/>
                <a:latin typeface="Times New Roman" panose="02020603050405020304" pitchFamily="18" charset="0"/>
              </a:rPr>
              <a:t>A</a:t>
            </a:r>
            <a:r>
              <a:rPr lang="en-US" sz="1800" b="0" i="0" dirty="0">
                <a:solidFill>
                  <a:srgbClr val="383838"/>
                </a:solidFill>
                <a:effectLst/>
                <a:latin typeface="Times New Roman" panose="02020603050405020304" pitchFamily="18" charset="0"/>
              </a:rPr>
              <a:t>wareness must be created among all employees about significance of</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security, how it can affect the goodwill of organization and what they can and must do.</a:t>
            </a:r>
          </a:p>
          <a:p>
            <a:r>
              <a:rPr lang="en-US" sz="1800" b="1" i="0" dirty="0">
                <a:solidFill>
                  <a:srgbClr val="383838"/>
                </a:solidFill>
                <a:effectLst/>
                <a:latin typeface="Times New Roman" panose="02020603050405020304" pitchFamily="18" charset="0"/>
              </a:rPr>
              <a:t>Audit compliance: </a:t>
            </a:r>
            <a:r>
              <a:rPr lang="en-US" sz="1800" b="0" i="0" dirty="0">
                <a:solidFill>
                  <a:srgbClr val="383838"/>
                </a:solidFill>
                <a:effectLst/>
                <a:latin typeface="Times New Roman" panose="02020603050405020304" pitchFamily="18" charset="0"/>
              </a:rPr>
              <a:t>It is required to make a horizontal audit compliance framework that provides a</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view across all business units and combines the respective information streams.</a:t>
            </a:r>
            <a:endParaRPr lang="en-US" sz="1800" dirty="0">
              <a:solidFill>
                <a:srgbClr val="383838"/>
              </a:solidFill>
            </a:endParaRPr>
          </a:p>
          <a:p>
            <a:r>
              <a:rPr lang="en-US" sz="1800" b="1" i="0" dirty="0">
                <a:solidFill>
                  <a:srgbClr val="383838"/>
                </a:solidFill>
                <a:effectLst/>
                <a:latin typeface="Times New Roman" panose="02020603050405020304" pitchFamily="18" charset="0"/>
              </a:rPr>
              <a:t>Identity and access management (IAM): </a:t>
            </a:r>
            <a:r>
              <a:rPr lang="en-US" sz="1800" b="0" i="0" dirty="0">
                <a:solidFill>
                  <a:srgbClr val="383838"/>
                </a:solidFill>
                <a:effectLst/>
                <a:latin typeface="Times New Roman" panose="02020603050405020304" pitchFamily="18" charset="0"/>
              </a:rPr>
              <a:t>Insider threats can be overcome by a strict Identity and</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Access Management solution that will allow IT managers to track privileged access to sensitive data</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and also allow them to assign or </a:t>
            </a:r>
            <a:r>
              <a:rPr lang="en-US" sz="1800" b="0" i="0" dirty="0" smtClean="0">
                <a:solidFill>
                  <a:srgbClr val="383838"/>
                </a:solidFill>
                <a:effectLst/>
                <a:latin typeface="Times New Roman" panose="02020603050405020304" pitchFamily="18" charset="0"/>
              </a:rPr>
              <a:t>revoke (cancel) </a:t>
            </a:r>
            <a:r>
              <a:rPr lang="en-US" sz="1800" b="0" i="0" dirty="0">
                <a:solidFill>
                  <a:srgbClr val="383838"/>
                </a:solidFill>
                <a:effectLst/>
                <a:latin typeface="Times New Roman" panose="02020603050405020304" pitchFamily="18" charset="0"/>
              </a:rPr>
              <a:t>these privileges.</a:t>
            </a:r>
          </a:p>
          <a:p>
            <a:r>
              <a:rPr lang="en-US" sz="1800" b="1" i="0" dirty="0">
                <a:solidFill>
                  <a:srgbClr val="383838"/>
                </a:solidFill>
                <a:effectLst/>
                <a:latin typeface="Times New Roman" panose="02020603050405020304" pitchFamily="18" charset="0"/>
              </a:rPr>
              <a:t>Security information and event management (SIEM): </a:t>
            </a:r>
            <a:r>
              <a:rPr lang="en-US" sz="1800" b="0" i="0" dirty="0">
                <a:solidFill>
                  <a:srgbClr val="383838"/>
                </a:solidFill>
                <a:effectLst/>
                <a:latin typeface="Times New Roman" panose="02020603050405020304" pitchFamily="18" charset="0"/>
              </a:rPr>
              <a:t>Combines security incident and security</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event management to ensure a complete view of the organization’s security posture.</a:t>
            </a:r>
          </a:p>
          <a:p>
            <a:r>
              <a:rPr lang="en-US" sz="1800" b="1" i="0" dirty="0">
                <a:solidFill>
                  <a:srgbClr val="383838"/>
                </a:solidFill>
                <a:effectLst/>
                <a:latin typeface="Times New Roman" panose="02020603050405020304" pitchFamily="18" charset="0"/>
              </a:rPr>
              <a:t>Look for guidance but ensure your own security: </a:t>
            </a:r>
            <a:r>
              <a:rPr lang="en-US" sz="1800" b="0" i="0" dirty="0">
                <a:solidFill>
                  <a:srgbClr val="383838"/>
                </a:solidFill>
                <a:effectLst/>
                <a:latin typeface="Times New Roman" panose="02020603050405020304" pitchFamily="18" charset="0"/>
              </a:rPr>
              <a:t>Cloud Security Alliance (CSA) provides good</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security guidance for cloud computing. </a:t>
            </a:r>
          </a:p>
          <a:p>
            <a:pPr lvl="1"/>
            <a:r>
              <a:rPr lang="en-US" sz="1400" b="0" i="0" dirty="0">
                <a:solidFill>
                  <a:srgbClr val="383838"/>
                </a:solidFill>
                <a:effectLst/>
                <a:latin typeface="Times New Roman" panose="02020603050405020304" pitchFamily="18" charset="0"/>
              </a:rPr>
              <a:t>Use standards as guidance and develop your own security policies to build security governance framework</a:t>
            </a:r>
          </a:p>
          <a:p>
            <a:r>
              <a:rPr lang="en-US" sz="1800" b="1" i="0" dirty="0">
                <a:solidFill>
                  <a:srgbClr val="383838"/>
                </a:solidFill>
                <a:effectLst/>
                <a:latin typeface="Times New Roman" panose="02020603050405020304" pitchFamily="18" charset="0"/>
              </a:rPr>
              <a:t>Governance framework solution: </a:t>
            </a:r>
            <a:r>
              <a:rPr lang="en-US" sz="1800" b="0" i="0" dirty="0">
                <a:solidFill>
                  <a:srgbClr val="383838"/>
                </a:solidFill>
                <a:effectLst/>
                <a:latin typeface="Times New Roman" panose="02020603050405020304" pitchFamily="18" charset="0"/>
              </a:rPr>
              <a:t>Build a framework by using Business Service Management (BSM)</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solution that has drill-down functionality to all IT governance, risk and compliance (GRC) and</a:t>
            </a:r>
            <a:br>
              <a:rPr lang="en-US" sz="1800" b="0" i="0" dirty="0">
                <a:solidFill>
                  <a:srgbClr val="383838"/>
                </a:solidFill>
                <a:effectLst/>
                <a:latin typeface="Times New Roman" panose="02020603050405020304" pitchFamily="18" charset="0"/>
              </a:rPr>
            </a:br>
            <a:r>
              <a:rPr lang="en-US" sz="1800" b="0" i="0" dirty="0">
                <a:solidFill>
                  <a:srgbClr val="383838"/>
                </a:solidFill>
                <a:effectLst/>
                <a:latin typeface="Times New Roman" panose="02020603050405020304" pitchFamily="18" charset="0"/>
              </a:rPr>
              <a:t>security elements.</a:t>
            </a:r>
            <a:r>
              <a:rPr lang="en-US" dirty="0"/>
              <a:t> </a:t>
            </a:r>
          </a:p>
        </p:txBody>
      </p:sp>
    </p:spTree>
    <p:extLst>
      <p:ext uri="{BB962C8B-B14F-4D97-AF65-F5344CB8AC3E}">
        <p14:creationId xmlns:p14="http://schemas.microsoft.com/office/powerpoint/2010/main" val="1759333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B69D05-A0B1-1D08-3C28-B5415771B766}"/>
              </a:ext>
            </a:extLst>
          </p:cNvPr>
          <p:cNvSpPr>
            <a:spLocks noGrp="1"/>
          </p:cNvSpPr>
          <p:nvPr>
            <p:ph type="title"/>
          </p:nvPr>
        </p:nvSpPr>
        <p:spPr/>
        <p:txBody>
          <a:bodyPr/>
          <a:lstStyle/>
          <a:p>
            <a:r>
              <a:rPr lang="en-US" dirty="0"/>
              <a:t>Risk Management</a:t>
            </a:r>
          </a:p>
        </p:txBody>
      </p:sp>
      <p:sp>
        <p:nvSpPr>
          <p:cNvPr id="3" name="Content Placeholder 2">
            <a:extLst>
              <a:ext uri="{FF2B5EF4-FFF2-40B4-BE49-F238E27FC236}">
                <a16:creationId xmlns:a16="http://schemas.microsoft.com/office/drawing/2014/main" xmlns="" id="{A0AC42ED-8550-8B5D-581E-65F512442124}"/>
              </a:ext>
            </a:extLst>
          </p:cNvPr>
          <p:cNvSpPr>
            <a:spLocks noGrp="1"/>
          </p:cNvSpPr>
          <p:nvPr>
            <p:ph idx="1"/>
          </p:nvPr>
        </p:nvSpPr>
        <p:spPr/>
        <p:txBody>
          <a:bodyPr>
            <a:normAutofit fontScale="92500"/>
          </a:bodyPr>
          <a:lstStyle/>
          <a:p>
            <a:r>
              <a:rPr lang="en-US" dirty="0"/>
              <a:t>Risk management is the process of identifying, assessing and controlling threats to an organization’s capital earnings</a:t>
            </a:r>
          </a:p>
          <a:p>
            <a:r>
              <a:rPr lang="en-US" b="0" i="0" dirty="0">
                <a:effectLst/>
              </a:rPr>
              <a:t>The total process of identifying, controlling, and eliminating or minimizing uncertain events that may affect system resources. </a:t>
            </a:r>
            <a:r>
              <a:rPr lang="en-US" dirty="0"/>
              <a:t>I</a:t>
            </a:r>
            <a:r>
              <a:rPr lang="en-US" b="0" i="0" dirty="0">
                <a:effectLst/>
              </a:rPr>
              <a:t>t includes:</a:t>
            </a:r>
          </a:p>
          <a:p>
            <a:pPr lvl="1"/>
            <a:r>
              <a:rPr lang="en-US" dirty="0"/>
              <a:t>R</a:t>
            </a:r>
            <a:r>
              <a:rPr lang="en-US" b="0" i="0" dirty="0">
                <a:effectLst/>
              </a:rPr>
              <a:t>isk analysis, </a:t>
            </a:r>
          </a:p>
          <a:p>
            <a:pPr lvl="1"/>
            <a:r>
              <a:rPr lang="en-US" dirty="0"/>
              <a:t>C</a:t>
            </a:r>
            <a:r>
              <a:rPr lang="en-US" b="0" i="0" dirty="0">
                <a:effectLst/>
              </a:rPr>
              <a:t>ost benefit analysis, </a:t>
            </a:r>
          </a:p>
          <a:p>
            <a:pPr lvl="1"/>
            <a:r>
              <a:rPr lang="en-US" dirty="0"/>
              <a:t>S</a:t>
            </a:r>
            <a:r>
              <a:rPr lang="en-US" b="0" i="0" dirty="0">
                <a:effectLst/>
              </a:rPr>
              <a:t>election, </a:t>
            </a:r>
          </a:p>
          <a:p>
            <a:pPr lvl="1"/>
            <a:r>
              <a:rPr lang="en-US" b="0" i="0" dirty="0">
                <a:effectLst/>
              </a:rPr>
              <a:t>Implementation and test, </a:t>
            </a:r>
          </a:p>
          <a:p>
            <a:pPr lvl="1"/>
            <a:r>
              <a:rPr lang="en-US" dirty="0"/>
              <a:t>S</a:t>
            </a:r>
            <a:r>
              <a:rPr lang="en-US" b="0" i="0" dirty="0">
                <a:effectLst/>
              </a:rPr>
              <a:t>ecurity evaluation of safeguards, and </a:t>
            </a:r>
          </a:p>
          <a:p>
            <a:pPr lvl="1"/>
            <a:r>
              <a:rPr lang="en-US" dirty="0"/>
              <a:t>O</a:t>
            </a:r>
            <a:r>
              <a:rPr lang="en-US" b="0" i="0" dirty="0">
                <a:effectLst/>
              </a:rPr>
              <a:t>verall security review</a:t>
            </a:r>
            <a:r>
              <a:rPr lang="en-US" dirty="0"/>
              <a:t/>
            </a:r>
            <a:br>
              <a:rPr lang="en-US" dirty="0"/>
            </a:br>
            <a:endParaRPr lang="en-US" dirty="0"/>
          </a:p>
        </p:txBody>
      </p:sp>
    </p:spTree>
    <p:extLst>
      <p:ext uri="{BB962C8B-B14F-4D97-AF65-F5344CB8AC3E}">
        <p14:creationId xmlns:p14="http://schemas.microsoft.com/office/powerpoint/2010/main" val="149069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0F0E89-8532-45EC-C346-ED9AD45B2FD2}"/>
              </a:ext>
            </a:extLst>
          </p:cNvPr>
          <p:cNvSpPr>
            <a:spLocks noGrp="1"/>
          </p:cNvSpPr>
          <p:nvPr>
            <p:ph type="title"/>
          </p:nvPr>
        </p:nvSpPr>
        <p:spPr/>
        <p:txBody>
          <a:bodyPr/>
          <a:lstStyle/>
          <a:p>
            <a:r>
              <a:rPr lang="en-US" dirty="0"/>
              <a:t>Risk Management (Security)</a:t>
            </a:r>
          </a:p>
        </p:txBody>
      </p:sp>
      <p:sp>
        <p:nvSpPr>
          <p:cNvPr id="3" name="Content Placeholder 2">
            <a:extLst>
              <a:ext uri="{FF2B5EF4-FFF2-40B4-BE49-F238E27FC236}">
                <a16:creationId xmlns:a16="http://schemas.microsoft.com/office/drawing/2014/main" xmlns="" id="{460C6877-EECC-B418-8BD2-68A71BC2D022}"/>
              </a:ext>
            </a:extLst>
          </p:cNvPr>
          <p:cNvSpPr>
            <a:spLocks noGrp="1"/>
          </p:cNvSpPr>
          <p:nvPr>
            <p:ph idx="1"/>
          </p:nvPr>
        </p:nvSpPr>
        <p:spPr/>
        <p:txBody>
          <a:bodyPr>
            <a:normAutofit/>
          </a:bodyPr>
          <a:lstStyle/>
          <a:p>
            <a:r>
              <a:rPr lang="en-US" dirty="0">
                <a:solidFill>
                  <a:srgbClr val="000000"/>
                </a:solidFill>
              </a:rPr>
              <a:t>Effective risk management </a:t>
            </a:r>
            <a:r>
              <a:rPr lang="en-US" dirty="0" smtClean="0">
                <a:solidFill>
                  <a:srgbClr val="000000"/>
                </a:solidFill>
              </a:rPr>
              <a:t>requires:</a:t>
            </a:r>
            <a:endParaRPr lang="en-US" dirty="0">
              <a:solidFill>
                <a:srgbClr val="000000"/>
              </a:solidFill>
            </a:endParaRPr>
          </a:p>
          <a:p>
            <a:pPr lvl="1"/>
            <a:r>
              <a:rPr lang="en-US" dirty="0">
                <a:solidFill>
                  <a:srgbClr val="000000"/>
                </a:solidFill>
              </a:rPr>
              <a:t>I</a:t>
            </a:r>
            <a:r>
              <a:rPr lang="en-US" b="0" i="0" dirty="0">
                <a:solidFill>
                  <a:srgbClr val="000000"/>
                </a:solidFill>
                <a:effectLst/>
              </a:rPr>
              <a:t>dentification of technology assets;</a:t>
            </a:r>
          </a:p>
          <a:p>
            <a:pPr lvl="1"/>
            <a:r>
              <a:rPr lang="en-US" dirty="0">
                <a:solidFill>
                  <a:srgbClr val="000000"/>
                </a:solidFill>
              </a:rPr>
              <a:t>I</a:t>
            </a:r>
            <a:r>
              <a:rPr lang="en-US" b="0" i="0" dirty="0">
                <a:solidFill>
                  <a:srgbClr val="000000"/>
                </a:solidFill>
                <a:effectLst/>
              </a:rPr>
              <a:t>dentification of data and its links to business processes, applications, and data stores;</a:t>
            </a:r>
          </a:p>
          <a:p>
            <a:pPr lvl="1"/>
            <a:r>
              <a:rPr lang="en-US" dirty="0">
                <a:solidFill>
                  <a:srgbClr val="000000"/>
                </a:solidFill>
              </a:rPr>
              <a:t>A</a:t>
            </a:r>
            <a:r>
              <a:rPr lang="en-US" b="0" i="0" dirty="0">
                <a:solidFill>
                  <a:srgbClr val="000000"/>
                </a:solidFill>
                <a:effectLst/>
              </a:rPr>
              <a:t>ssignment of ownership and </a:t>
            </a:r>
            <a:r>
              <a:rPr lang="en-US" b="0" i="0" dirty="0" smtClean="0">
                <a:solidFill>
                  <a:srgbClr val="000000"/>
                </a:solidFill>
                <a:effectLst/>
              </a:rPr>
              <a:t>safeguarding </a:t>
            </a:r>
            <a:r>
              <a:rPr lang="en-US" b="0" i="0" dirty="0">
                <a:solidFill>
                  <a:srgbClr val="000000"/>
                </a:solidFill>
                <a:effectLst/>
              </a:rPr>
              <a:t>responsibilities</a:t>
            </a:r>
          </a:p>
          <a:p>
            <a:pPr lvl="1"/>
            <a:r>
              <a:rPr lang="en-US" b="0" i="0" dirty="0">
                <a:solidFill>
                  <a:srgbClr val="000000"/>
                </a:solidFill>
                <a:effectLst/>
              </a:rPr>
              <a:t>A formal risk assessment process should be created that allocates security resources linked to business continuity</a:t>
            </a:r>
            <a:endParaRPr lang="en-US" dirty="0"/>
          </a:p>
        </p:txBody>
      </p:sp>
    </p:spTree>
    <p:extLst>
      <p:ext uri="{BB962C8B-B14F-4D97-AF65-F5344CB8AC3E}">
        <p14:creationId xmlns:p14="http://schemas.microsoft.com/office/powerpoint/2010/main" val="497754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396CF2-5365-45CE-E891-1ADD7E4565BF}"/>
              </a:ext>
            </a:extLst>
          </p:cNvPr>
          <p:cNvSpPr>
            <a:spLocks noGrp="1"/>
          </p:cNvSpPr>
          <p:nvPr>
            <p:ph type="title"/>
          </p:nvPr>
        </p:nvSpPr>
        <p:spPr/>
        <p:txBody>
          <a:bodyPr/>
          <a:lstStyle/>
          <a:p>
            <a:r>
              <a:rPr lang="en-US" dirty="0"/>
              <a:t>Risk Management (Security)</a:t>
            </a:r>
          </a:p>
        </p:txBody>
      </p:sp>
      <p:sp>
        <p:nvSpPr>
          <p:cNvPr id="3" name="Content Placeholder 2">
            <a:extLst>
              <a:ext uri="{FF2B5EF4-FFF2-40B4-BE49-F238E27FC236}">
                <a16:creationId xmlns:a16="http://schemas.microsoft.com/office/drawing/2014/main" xmlns="" id="{9365882D-ED6B-FB79-1B90-8E8F69101B65}"/>
              </a:ext>
            </a:extLst>
          </p:cNvPr>
          <p:cNvSpPr>
            <a:spLocks noGrp="1"/>
          </p:cNvSpPr>
          <p:nvPr>
            <p:ph idx="1"/>
          </p:nvPr>
        </p:nvSpPr>
        <p:spPr/>
        <p:txBody>
          <a:bodyPr>
            <a:normAutofit fontScale="85000" lnSpcReduction="10000"/>
          </a:bodyPr>
          <a:lstStyle/>
          <a:p>
            <a:r>
              <a:rPr lang="en-US" b="0" i="0" dirty="0">
                <a:solidFill>
                  <a:srgbClr val="000000"/>
                </a:solidFill>
                <a:effectLst/>
              </a:rPr>
              <a:t>Owners have authority and accountability for information assets including</a:t>
            </a:r>
          </a:p>
          <a:p>
            <a:pPr lvl="1"/>
            <a:r>
              <a:rPr lang="en-US" dirty="0">
                <a:solidFill>
                  <a:srgbClr val="000000"/>
                </a:solidFill>
              </a:rPr>
              <a:t>P</a:t>
            </a:r>
            <a:r>
              <a:rPr lang="en-US" b="0" i="0" dirty="0">
                <a:solidFill>
                  <a:srgbClr val="000000"/>
                </a:solidFill>
                <a:effectLst/>
              </a:rPr>
              <a:t>rotection requirements,</a:t>
            </a:r>
          </a:p>
          <a:p>
            <a:pPr lvl="1"/>
            <a:r>
              <a:rPr lang="en-US" dirty="0">
                <a:solidFill>
                  <a:srgbClr val="000000"/>
                </a:solidFill>
              </a:rPr>
              <a:t>I</a:t>
            </a:r>
            <a:r>
              <a:rPr lang="en-US" b="0" i="0" dirty="0" smtClean="0">
                <a:solidFill>
                  <a:srgbClr val="000000"/>
                </a:solidFill>
                <a:effectLst/>
              </a:rPr>
              <a:t>mplement </a:t>
            </a:r>
            <a:r>
              <a:rPr lang="en-US" b="0" i="0" dirty="0">
                <a:solidFill>
                  <a:srgbClr val="000000"/>
                </a:solidFill>
                <a:effectLst/>
              </a:rPr>
              <a:t>confidentiality</a:t>
            </a:r>
          </a:p>
          <a:p>
            <a:pPr lvl="1"/>
            <a:r>
              <a:rPr lang="en-US" b="0" i="0" dirty="0">
                <a:solidFill>
                  <a:srgbClr val="000000"/>
                </a:solidFill>
                <a:effectLst/>
              </a:rPr>
              <a:t>Integrity</a:t>
            </a:r>
          </a:p>
          <a:p>
            <a:pPr lvl="1"/>
            <a:r>
              <a:rPr lang="en-US" b="0" i="0" dirty="0">
                <a:solidFill>
                  <a:srgbClr val="000000"/>
                </a:solidFill>
                <a:effectLst/>
              </a:rPr>
              <a:t>Availability</a:t>
            </a:r>
          </a:p>
          <a:p>
            <a:pPr lvl="1"/>
            <a:r>
              <a:rPr lang="en-US" dirty="0">
                <a:solidFill>
                  <a:srgbClr val="000000"/>
                </a:solidFill>
              </a:rPr>
              <a:t>P</a:t>
            </a:r>
            <a:r>
              <a:rPr lang="en-US" b="0" i="0" dirty="0">
                <a:solidFill>
                  <a:srgbClr val="000000"/>
                </a:solidFill>
                <a:effectLst/>
              </a:rPr>
              <a:t>rivacy controls</a:t>
            </a:r>
          </a:p>
          <a:p>
            <a:r>
              <a:rPr lang="en-US" sz="1800" b="1" i="0" dirty="0">
                <a:solidFill>
                  <a:srgbClr val="000000"/>
                </a:solidFill>
                <a:effectLst/>
                <a:latin typeface="Arial" panose="020B0604020202020204" pitchFamily="34" charset="0"/>
              </a:rPr>
              <a:t>Risk Assessment</a:t>
            </a:r>
          </a:p>
          <a:p>
            <a:pPr lvl="1"/>
            <a:r>
              <a:rPr lang="en-US" sz="1800" b="0" i="0" dirty="0">
                <a:solidFill>
                  <a:srgbClr val="000000"/>
                </a:solidFill>
                <a:effectLst/>
                <a:latin typeface="Times New Roman" panose="02020603050405020304" pitchFamily="18" charset="0"/>
              </a:rPr>
              <a:t>should proactively assess information security risks as well as plan and manage them on a periodic or as-needed basis</a:t>
            </a:r>
            <a:r>
              <a:rPr lang="en-US" dirty="0"/>
              <a:t> </a:t>
            </a:r>
          </a:p>
          <a:p>
            <a:pPr lvl="1"/>
            <a:r>
              <a:rPr lang="en-US" sz="1800" b="0" i="0" dirty="0">
                <a:solidFill>
                  <a:srgbClr val="000000"/>
                </a:solidFill>
                <a:effectLst/>
                <a:latin typeface="Times New Roman" panose="02020603050405020304" pitchFamily="18" charset="0"/>
              </a:rPr>
              <a:t>More detailed and technical security risk assessments in the form of threat modeling should also be applied to applications and infrastructure</a:t>
            </a:r>
          </a:p>
          <a:p>
            <a:pPr lvl="1"/>
            <a:r>
              <a:rPr lang="en-US" sz="1800" b="0" i="0" dirty="0">
                <a:solidFill>
                  <a:srgbClr val="000000"/>
                </a:solidFill>
                <a:effectLst/>
                <a:latin typeface="Times New Roman" panose="02020603050405020304" pitchFamily="18" charset="0"/>
              </a:rPr>
              <a:t>It can help the product management and engineering groups to be more proactive in designing and testing the security of applications and systems and to collaborate more closely with the internal security team</a:t>
            </a:r>
          </a:p>
          <a:p>
            <a:pPr lvl="1"/>
            <a:r>
              <a:rPr lang="en-US" sz="1800" b="0" i="0" dirty="0">
                <a:solidFill>
                  <a:srgbClr val="000000"/>
                </a:solidFill>
                <a:effectLst/>
                <a:latin typeface="Times New Roman" panose="02020603050405020304" pitchFamily="18" charset="0"/>
              </a:rPr>
              <a:t>Threat modeling requires both IT and business process knowledge, as well as technical knowledge of how the applications or systems under review work</a:t>
            </a: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1234481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6DE45-1139-6BF4-91F6-D2AAF2405C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7EC6D2B-B052-28DE-F232-D461154A201C}"/>
              </a:ext>
            </a:extLst>
          </p:cNvPr>
          <p:cNvSpPr>
            <a:spLocks noGrp="1"/>
          </p:cNvSpPr>
          <p:nvPr>
            <p:ph idx="1"/>
          </p:nvPr>
        </p:nvSpPr>
        <p:spPr/>
        <p:txBody>
          <a:bodyPr>
            <a:normAutofit/>
          </a:bodyPr>
          <a:lstStyle/>
          <a:p>
            <a:r>
              <a:rPr lang="en-US" b="1" i="0" dirty="0">
                <a:solidFill>
                  <a:srgbClr val="000000"/>
                </a:solidFill>
                <a:effectLst/>
              </a:rPr>
              <a:t>Security Monitoring</a:t>
            </a:r>
          </a:p>
          <a:p>
            <a:pPr lvl="1"/>
            <a:r>
              <a:rPr lang="en-US" sz="1800" b="0" i="0" dirty="0">
                <a:solidFill>
                  <a:srgbClr val="000000"/>
                </a:solidFill>
                <a:effectLst/>
                <a:latin typeface="Times New Roman" panose="02020603050405020304" pitchFamily="18" charset="0"/>
              </a:rPr>
              <a:t>Centralized security information management systems should be used to provide notification of</a:t>
            </a:r>
            <a:br>
              <a:rPr lang="en-US" sz="1800" b="0" i="0" dirty="0">
                <a:solidFill>
                  <a:srgbClr val="000000"/>
                </a:solidFill>
                <a:effectLst/>
                <a:latin typeface="Times New Roman" panose="02020603050405020304" pitchFamily="18" charset="0"/>
              </a:rPr>
            </a:br>
            <a:r>
              <a:rPr lang="en-US" sz="1800" b="0" i="0" dirty="0">
                <a:solidFill>
                  <a:srgbClr val="000000"/>
                </a:solidFill>
                <a:effectLst/>
                <a:latin typeface="Times New Roman" panose="02020603050405020304" pitchFamily="18" charset="0"/>
              </a:rPr>
              <a:t>security vulnerabilities and to monitor systems continuously through automated technologies to identify potential issues</a:t>
            </a:r>
            <a:endParaRPr lang="en-US" sz="2800" b="0" i="0" dirty="0">
              <a:solidFill>
                <a:srgbClr val="000000"/>
              </a:solidFill>
              <a:effectLst/>
              <a:latin typeface="Times New Roman" panose="02020603050405020304" pitchFamily="18" charset="0"/>
            </a:endParaRPr>
          </a:p>
          <a:p>
            <a:pPr lvl="1"/>
            <a:r>
              <a:rPr lang="en-US" sz="1800" b="0" i="0" dirty="0">
                <a:solidFill>
                  <a:srgbClr val="000000"/>
                </a:solidFill>
                <a:effectLst/>
                <a:latin typeface="Times New Roman" panose="02020603050405020304" pitchFamily="18" charset="0"/>
              </a:rPr>
              <a:t>They should be integrated with network and other systems monitoring processes</a:t>
            </a:r>
          </a:p>
          <a:p>
            <a:pPr lvl="2"/>
            <a:r>
              <a:rPr lang="en-US" sz="1800" b="0" i="0" dirty="0">
                <a:solidFill>
                  <a:srgbClr val="000000"/>
                </a:solidFill>
                <a:effectLst/>
                <a:latin typeface="Times New Roman" panose="02020603050405020304" pitchFamily="18" charset="0"/>
              </a:rPr>
              <a:t>security information management</a:t>
            </a:r>
          </a:p>
          <a:p>
            <a:pPr lvl="2"/>
            <a:r>
              <a:rPr lang="en-US" sz="1800" b="0" i="0" dirty="0">
                <a:solidFill>
                  <a:srgbClr val="000000"/>
                </a:solidFill>
                <a:effectLst/>
                <a:latin typeface="Times New Roman" panose="02020603050405020304" pitchFamily="18" charset="0"/>
              </a:rPr>
              <a:t>security event management</a:t>
            </a:r>
          </a:p>
          <a:p>
            <a:pPr lvl="2"/>
            <a:r>
              <a:rPr lang="en-US" sz="1800" b="0" i="0" dirty="0">
                <a:solidFill>
                  <a:srgbClr val="000000"/>
                </a:solidFill>
                <a:effectLst/>
                <a:latin typeface="Times New Roman" panose="02020603050405020304" pitchFamily="18" charset="0"/>
              </a:rPr>
              <a:t>security information and event management, and </a:t>
            </a:r>
          </a:p>
          <a:p>
            <a:pPr lvl="2"/>
            <a:r>
              <a:rPr lang="en-US" sz="1800" b="0" i="0" dirty="0">
                <a:solidFill>
                  <a:srgbClr val="000000"/>
                </a:solidFill>
                <a:effectLst/>
                <a:latin typeface="Times New Roman" panose="02020603050405020304" pitchFamily="18" charset="0"/>
              </a:rPr>
              <a:t>security operations centers that use these systems for dedicated </a:t>
            </a:r>
            <a:r>
              <a:rPr lang="en-US" sz="1800" b="0" i="0" dirty="0" smtClean="0">
                <a:solidFill>
                  <a:srgbClr val="000000"/>
                </a:solidFill>
                <a:effectLst/>
                <a:latin typeface="Times New Roman" panose="02020603050405020304" pitchFamily="18" charset="0"/>
              </a:rPr>
              <a:t>24/7 </a:t>
            </a:r>
            <a:r>
              <a:rPr lang="en-US" sz="1800" b="0" i="0" dirty="0">
                <a:solidFill>
                  <a:srgbClr val="000000"/>
                </a:solidFill>
                <a:effectLst/>
                <a:latin typeface="Times New Roman" panose="02020603050405020304" pitchFamily="18" charset="0"/>
              </a:rPr>
              <a:t>monitoring</a:t>
            </a:r>
            <a:r>
              <a:rPr lang="en-US" sz="2000" dirty="0"/>
              <a:t> </a:t>
            </a:r>
            <a:br>
              <a:rPr lang="en-US" sz="2000" dirty="0"/>
            </a:br>
            <a:r>
              <a:rPr lang="en-US" sz="2400" dirty="0"/>
              <a:t/>
            </a:r>
            <a:br>
              <a:rPr lang="en-US" sz="2400" dirty="0"/>
            </a:br>
            <a:endParaRPr lang="en-US" sz="3200" dirty="0"/>
          </a:p>
        </p:txBody>
      </p:sp>
    </p:spTree>
    <p:extLst>
      <p:ext uri="{BB962C8B-B14F-4D97-AF65-F5344CB8AC3E}">
        <p14:creationId xmlns:p14="http://schemas.microsoft.com/office/powerpoint/2010/main" val="119305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3C96AE-66CC-AB3E-1CDE-DF78E41FFB8A}"/>
              </a:ext>
            </a:extLst>
          </p:cNvPr>
          <p:cNvSpPr>
            <a:spLocks noGrp="1"/>
          </p:cNvSpPr>
          <p:nvPr>
            <p:ph type="title"/>
          </p:nvPr>
        </p:nvSpPr>
        <p:spPr/>
        <p:txBody>
          <a:bodyPr>
            <a:normAutofit/>
          </a:bodyPr>
          <a:lstStyle/>
          <a:p>
            <a:r>
              <a:rPr lang="en-US" sz="3600" b="1" i="0" dirty="0">
                <a:solidFill>
                  <a:srgbClr val="000000"/>
                </a:solidFill>
                <a:effectLst/>
              </a:rPr>
              <a:t>Secure Software Development Life Cycle (</a:t>
            </a:r>
            <a:r>
              <a:rPr lang="en-US" sz="3600" b="1" i="0" dirty="0" err="1">
                <a:solidFill>
                  <a:srgbClr val="000000"/>
                </a:solidFill>
                <a:effectLst/>
              </a:rPr>
              <a:t>SecSDLC</a:t>
            </a:r>
            <a:r>
              <a:rPr lang="en-US" sz="3600" b="1" i="0" dirty="0">
                <a:solidFill>
                  <a:srgbClr val="000000"/>
                </a:solidFill>
                <a:effectLst/>
              </a:rPr>
              <a:t>)</a:t>
            </a:r>
            <a:endParaRPr lang="en-US" sz="7200" dirty="0"/>
          </a:p>
        </p:txBody>
      </p:sp>
      <p:sp>
        <p:nvSpPr>
          <p:cNvPr id="3" name="Content Placeholder 2">
            <a:extLst>
              <a:ext uri="{FF2B5EF4-FFF2-40B4-BE49-F238E27FC236}">
                <a16:creationId xmlns:a16="http://schemas.microsoft.com/office/drawing/2014/main" xmlns="" id="{5B18E439-FA54-1910-5679-B62222C6854E}"/>
              </a:ext>
            </a:extLst>
          </p:cNvPr>
          <p:cNvSpPr>
            <a:spLocks noGrp="1"/>
          </p:cNvSpPr>
          <p:nvPr>
            <p:ph idx="1"/>
          </p:nvPr>
        </p:nvSpPr>
        <p:spPr>
          <a:xfrm>
            <a:off x="418011" y="1593669"/>
            <a:ext cx="11329851" cy="4583294"/>
          </a:xfrm>
        </p:spPr>
        <p:txBody>
          <a:bodyPr>
            <a:normAutofit/>
          </a:bodyPr>
          <a:lstStyle/>
          <a:p>
            <a:r>
              <a:rPr lang="en-US" sz="2000" b="0" i="0" dirty="0">
                <a:solidFill>
                  <a:srgbClr val="000000"/>
                </a:solidFill>
                <a:effectLst/>
                <a:latin typeface="Times New Roman" panose="02020603050405020304" pitchFamily="18" charset="0"/>
              </a:rPr>
              <a:t>It involves identifying specific threats and the risks they represent</a:t>
            </a:r>
            <a:r>
              <a:rPr lang="en-US" sz="1600" b="0" i="0" dirty="0">
                <a:solidFill>
                  <a:srgbClr val="000000"/>
                </a:solidFill>
                <a:effectLst/>
                <a:latin typeface="Times New Roman" panose="02020603050405020304" pitchFamily="18" charset="0"/>
              </a:rPr>
              <a:t>, </a:t>
            </a:r>
            <a:r>
              <a:rPr lang="en-US" sz="2000" b="0" i="0" dirty="0">
                <a:solidFill>
                  <a:srgbClr val="000000"/>
                </a:solidFill>
                <a:effectLst/>
                <a:latin typeface="Times New Roman" panose="02020603050405020304" pitchFamily="18" charset="0"/>
              </a:rPr>
              <a:t>followed by design and implementation of specific controls to counter those threats and assist in managing the risks they pose to the organization and/or its customers</a:t>
            </a:r>
          </a:p>
          <a:p>
            <a:r>
              <a:rPr lang="en-US" sz="1800" b="0" i="0" dirty="0">
                <a:solidFill>
                  <a:srgbClr val="000000"/>
                </a:solidFill>
                <a:effectLst/>
                <a:latin typeface="Times New Roman" panose="02020603050405020304" pitchFamily="18" charset="0"/>
              </a:rPr>
              <a:t>The SDLC consists of six phases which are listed below:</a:t>
            </a:r>
            <a:r>
              <a:rPr lang="en-US" sz="1100" dirty="0"/>
              <a:t> </a:t>
            </a:r>
          </a:p>
          <a:p>
            <a:pPr lvl="1"/>
            <a:r>
              <a:rPr lang="en-US" sz="1800" b="1" i="0" dirty="0">
                <a:solidFill>
                  <a:srgbClr val="000000"/>
                </a:solidFill>
                <a:effectLst/>
                <a:latin typeface="Times New Roman" panose="02020603050405020304" pitchFamily="18" charset="0"/>
              </a:rPr>
              <a:t>Investigation: </a:t>
            </a:r>
            <a:r>
              <a:rPr lang="en-US" sz="1800" b="0" i="0" dirty="0">
                <a:solidFill>
                  <a:srgbClr val="000000"/>
                </a:solidFill>
                <a:effectLst/>
                <a:latin typeface="Times New Roman" panose="02020603050405020304" pitchFamily="18" charset="0"/>
              </a:rPr>
              <a:t>Define project processes and goals, and document them in the program security</a:t>
            </a:r>
            <a:br>
              <a:rPr lang="en-US" sz="1800" b="0" i="0" dirty="0">
                <a:solidFill>
                  <a:srgbClr val="000000"/>
                </a:solidFill>
                <a:effectLst/>
                <a:latin typeface="Times New Roman" panose="02020603050405020304" pitchFamily="18" charset="0"/>
              </a:rPr>
            </a:br>
            <a:r>
              <a:rPr lang="en-US" sz="1800" b="0" i="0" dirty="0">
                <a:solidFill>
                  <a:srgbClr val="000000"/>
                </a:solidFill>
                <a:effectLst/>
                <a:latin typeface="Times New Roman" panose="02020603050405020304" pitchFamily="18" charset="0"/>
              </a:rPr>
              <a:t>policy.</a:t>
            </a:r>
          </a:p>
          <a:p>
            <a:pPr lvl="1"/>
            <a:r>
              <a:rPr lang="en-US" sz="1800" b="1" i="0" dirty="0">
                <a:solidFill>
                  <a:srgbClr val="000000"/>
                </a:solidFill>
                <a:effectLst/>
                <a:latin typeface="Times New Roman" panose="02020603050405020304" pitchFamily="18" charset="0"/>
              </a:rPr>
              <a:t>Analysis: </a:t>
            </a:r>
            <a:r>
              <a:rPr lang="en-US" sz="1800" b="0" i="0" dirty="0">
                <a:solidFill>
                  <a:srgbClr val="000000"/>
                </a:solidFill>
                <a:effectLst/>
                <a:latin typeface="Times New Roman" panose="02020603050405020304" pitchFamily="18" charset="0"/>
              </a:rPr>
              <a:t>Analyze existing security policies and programs, analyze current threats and controls,</a:t>
            </a:r>
            <a:br>
              <a:rPr lang="en-US" sz="1800" b="0" i="0" dirty="0">
                <a:solidFill>
                  <a:srgbClr val="000000"/>
                </a:solidFill>
                <a:effectLst/>
                <a:latin typeface="Times New Roman" panose="02020603050405020304" pitchFamily="18" charset="0"/>
              </a:rPr>
            </a:br>
            <a:r>
              <a:rPr lang="en-US" sz="1800" b="0" i="0" dirty="0">
                <a:solidFill>
                  <a:srgbClr val="000000"/>
                </a:solidFill>
                <a:effectLst/>
                <a:latin typeface="Times New Roman" panose="02020603050405020304" pitchFamily="18" charset="0"/>
              </a:rPr>
              <a:t>examine legal issues, and perform risk analysis.</a:t>
            </a:r>
            <a:endParaRPr lang="en-US" sz="1050" b="0" i="0" dirty="0">
              <a:solidFill>
                <a:srgbClr val="000000"/>
              </a:solidFill>
              <a:effectLst/>
              <a:latin typeface="Times New Roman" panose="02020603050405020304" pitchFamily="18" charset="0"/>
            </a:endParaRPr>
          </a:p>
          <a:p>
            <a:pPr lvl="1"/>
            <a:r>
              <a:rPr lang="en-US" sz="1800" b="1" i="0" dirty="0">
                <a:solidFill>
                  <a:srgbClr val="000000"/>
                </a:solidFill>
                <a:effectLst/>
                <a:latin typeface="Times New Roman" panose="02020603050405020304" pitchFamily="18" charset="0"/>
              </a:rPr>
              <a:t>Logical design: </a:t>
            </a:r>
            <a:r>
              <a:rPr lang="en-US" sz="1800" b="0" i="0" dirty="0">
                <a:solidFill>
                  <a:srgbClr val="000000"/>
                </a:solidFill>
                <a:effectLst/>
                <a:latin typeface="Times New Roman" panose="02020603050405020304" pitchFamily="18" charset="0"/>
              </a:rPr>
              <a:t>Develop a security blueprint, plan incident response actions, plan business responses to disaster, and determine the feasibility of continuing and/or outsourcing the project.</a:t>
            </a:r>
            <a:endParaRPr lang="en-US" sz="1800" dirty="0">
              <a:solidFill>
                <a:srgbClr val="000000"/>
              </a:solidFill>
            </a:endParaRPr>
          </a:p>
          <a:p>
            <a:pPr lvl="1"/>
            <a:r>
              <a:rPr lang="en-US" sz="1800" b="1" i="0" dirty="0">
                <a:solidFill>
                  <a:srgbClr val="000000"/>
                </a:solidFill>
                <a:effectLst/>
                <a:latin typeface="Times New Roman" panose="02020603050405020304" pitchFamily="18" charset="0"/>
              </a:rPr>
              <a:t>Physical design: </a:t>
            </a:r>
            <a:r>
              <a:rPr lang="en-US" sz="1800" b="0" i="0" dirty="0">
                <a:solidFill>
                  <a:srgbClr val="000000"/>
                </a:solidFill>
                <a:effectLst/>
                <a:latin typeface="Times New Roman" panose="02020603050405020304" pitchFamily="18" charset="0"/>
              </a:rPr>
              <a:t>Select technologies to support the security blueprint, develop a definition of a successful solution, design physical security measures to support technological solutions, and review and approve plans.</a:t>
            </a:r>
            <a:endParaRPr lang="en-US" sz="1800" dirty="0">
              <a:solidFill>
                <a:srgbClr val="000000"/>
              </a:solidFill>
            </a:endParaRPr>
          </a:p>
          <a:p>
            <a:pPr lvl="1"/>
            <a:r>
              <a:rPr lang="en-US" sz="1800" b="1" i="0" dirty="0">
                <a:solidFill>
                  <a:srgbClr val="000000"/>
                </a:solidFill>
                <a:effectLst/>
                <a:latin typeface="Times New Roman" panose="02020603050405020304" pitchFamily="18" charset="0"/>
              </a:rPr>
              <a:t>Implementation: </a:t>
            </a:r>
            <a:r>
              <a:rPr lang="en-US" sz="1800" b="0" i="0" dirty="0">
                <a:solidFill>
                  <a:srgbClr val="000000"/>
                </a:solidFill>
                <a:effectLst/>
                <a:latin typeface="Times New Roman" panose="02020603050405020304" pitchFamily="18" charset="0"/>
              </a:rPr>
              <a:t>Buy or develop security solutions. At the end of this phase, present a tested package to management for approval.</a:t>
            </a:r>
          </a:p>
          <a:p>
            <a:pPr lvl="1"/>
            <a:r>
              <a:rPr lang="en-US" sz="1800" b="1" i="0" dirty="0">
                <a:solidFill>
                  <a:srgbClr val="000000"/>
                </a:solidFill>
                <a:effectLst/>
                <a:latin typeface="Times New Roman" panose="02020603050405020304" pitchFamily="18" charset="0"/>
              </a:rPr>
              <a:t>Maintenance: </a:t>
            </a:r>
            <a:r>
              <a:rPr lang="en-US" sz="1800" b="0" i="0" dirty="0">
                <a:solidFill>
                  <a:srgbClr val="000000"/>
                </a:solidFill>
                <a:effectLst/>
                <a:latin typeface="Times New Roman" panose="02020603050405020304" pitchFamily="18" charset="0"/>
              </a:rPr>
              <a:t>Constantly monitor, test, modify, update, and repair to respond to changing threats.</a:t>
            </a:r>
            <a:endParaRPr lang="en-US" sz="3200" dirty="0"/>
          </a:p>
        </p:txBody>
      </p:sp>
    </p:spTree>
    <p:extLst>
      <p:ext uri="{BB962C8B-B14F-4D97-AF65-F5344CB8AC3E}">
        <p14:creationId xmlns:p14="http://schemas.microsoft.com/office/powerpoint/2010/main" val="608366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661EC9-D04B-9F5A-1462-E5CC29195850}"/>
              </a:ext>
            </a:extLst>
          </p:cNvPr>
          <p:cNvSpPr>
            <a:spLocks noGrp="1"/>
          </p:cNvSpPr>
          <p:nvPr>
            <p:ph type="title"/>
          </p:nvPr>
        </p:nvSpPr>
        <p:spPr/>
        <p:txBody>
          <a:bodyPr>
            <a:normAutofit/>
          </a:bodyPr>
          <a:lstStyle/>
          <a:p>
            <a:r>
              <a:rPr lang="en-US" sz="3600" b="1" i="0" dirty="0">
                <a:solidFill>
                  <a:srgbClr val="000000"/>
                </a:solidFill>
                <a:effectLst/>
              </a:rPr>
              <a:t>Security Architecture Design</a:t>
            </a:r>
            <a:endParaRPr lang="en-US" sz="7200" dirty="0"/>
          </a:p>
        </p:txBody>
      </p:sp>
      <p:sp>
        <p:nvSpPr>
          <p:cNvPr id="3" name="Content Placeholder 2">
            <a:extLst>
              <a:ext uri="{FF2B5EF4-FFF2-40B4-BE49-F238E27FC236}">
                <a16:creationId xmlns:a16="http://schemas.microsoft.com/office/drawing/2014/main" xmlns="" id="{4F95A7EE-DE12-FE03-FC35-5E6B5BA75C35}"/>
              </a:ext>
            </a:extLst>
          </p:cNvPr>
          <p:cNvSpPr>
            <a:spLocks noGrp="1"/>
          </p:cNvSpPr>
          <p:nvPr>
            <p:ph idx="1"/>
          </p:nvPr>
        </p:nvSpPr>
        <p:spPr/>
        <p:txBody>
          <a:bodyPr>
            <a:normAutofit fontScale="92500" lnSpcReduction="10000"/>
          </a:bodyPr>
          <a:lstStyle/>
          <a:p>
            <a:r>
              <a:rPr lang="en-US" sz="1800" b="0" i="0" dirty="0">
                <a:solidFill>
                  <a:srgbClr val="000000"/>
                </a:solidFill>
                <a:effectLst/>
                <a:latin typeface="Times New Roman" panose="02020603050405020304" pitchFamily="18" charset="0"/>
              </a:rPr>
              <a:t>A security architecture framework should be established with consideration of processes, operational procedures, technology specifications, people and organizational management, and security program compliance and reporting.</a:t>
            </a:r>
          </a:p>
          <a:p>
            <a:r>
              <a:rPr lang="en-US" sz="1800" b="0" i="0" dirty="0">
                <a:solidFill>
                  <a:srgbClr val="000000"/>
                </a:solidFill>
                <a:effectLst/>
                <a:latin typeface="Times New Roman" panose="02020603050405020304" pitchFamily="18" charset="0"/>
              </a:rPr>
              <a:t>A security architecture document should be developed that defines security and privacy principles</a:t>
            </a:r>
            <a:br>
              <a:rPr lang="en-US" sz="1800" b="0" i="0" dirty="0">
                <a:solidFill>
                  <a:srgbClr val="000000"/>
                </a:solidFill>
                <a:effectLst/>
                <a:latin typeface="Times New Roman" panose="02020603050405020304" pitchFamily="18" charset="0"/>
              </a:rPr>
            </a:br>
            <a:r>
              <a:rPr lang="en-US" sz="1800" b="0" i="0" dirty="0">
                <a:solidFill>
                  <a:srgbClr val="000000"/>
                </a:solidFill>
                <a:effectLst/>
                <a:latin typeface="Times New Roman" panose="02020603050405020304" pitchFamily="18" charset="0"/>
              </a:rPr>
              <a:t>to meet business objectives.</a:t>
            </a:r>
          </a:p>
          <a:p>
            <a:r>
              <a:rPr lang="en-US" sz="1800" b="0" i="0" dirty="0">
                <a:solidFill>
                  <a:srgbClr val="000000"/>
                </a:solidFill>
                <a:effectLst/>
                <a:latin typeface="Times New Roman" panose="02020603050405020304" pitchFamily="18" charset="0"/>
              </a:rPr>
              <a:t>A design and implementation program should also be integrated with the formal system development life cycle to include a business case, requirements definition, design, and implementation plans. </a:t>
            </a:r>
          </a:p>
          <a:p>
            <a:r>
              <a:rPr lang="en-US" sz="1800" b="0" i="0" dirty="0">
                <a:solidFill>
                  <a:srgbClr val="000000"/>
                </a:solidFill>
                <a:effectLst/>
                <a:latin typeface="Times New Roman" panose="02020603050405020304" pitchFamily="18" charset="0"/>
              </a:rPr>
              <a:t>Technology and design methods should be included, as well as the security processes necessary to provide the following services across all technology layers:</a:t>
            </a:r>
          </a:p>
          <a:p>
            <a:pPr lvl="1"/>
            <a:r>
              <a:rPr lang="en-US" sz="1800" b="0" i="0" dirty="0">
                <a:solidFill>
                  <a:srgbClr val="000000"/>
                </a:solidFill>
                <a:effectLst/>
                <a:latin typeface="Times New Roman" panose="02020603050405020304" pitchFamily="18" charset="0"/>
              </a:rPr>
              <a:t>Authentication</a:t>
            </a:r>
          </a:p>
          <a:p>
            <a:pPr lvl="1"/>
            <a:r>
              <a:rPr lang="en-US" sz="1800" b="0" i="0" dirty="0">
                <a:solidFill>
                  <a:srgbClr val="000000"/>
                </a:solidFill>
                <a:effectLst/>
                <a:latin typeface="Times New Roman" panose="02020603050405020304" pitchFamily="18" charset="0"/>
              </a:rPr>
              <a:t>Authorization</a:t>
            </a:r>
          </a:p>
          <a:p>
            <a:pPr lvl="1"/>
            <a:r>
              <a:rPr lang="en-US" sz="1800" b="0" i="0" dirty="0">
                <a:solidFill>
                  <a:srgbClr val="000000"/>
                </a:solidFill>
                <a:effectLst/>
                <a:latin typeface="Times New Roman" panose="02020603050405020304" pitchFamily="18" charset="0"/>
              </a:rPr>
              <a:t>Availability</a:t>
            </a:r>
          </a:p>
          <a:p>
            <a:pPr lvl="1"/>
            <a:r>
              <a:rPr lang="en-US" sz="1800" b="0" i="0" dirty="0">
                <a:solidFill>
                  <a:srgbClr val="000000"/>
                </a:solidFill>
                <a:effectLst/>
                <a:latin typeface="Times New Roman" panose="02020603050405020304" pitchFamily="18" charset="0"/>
              </a:rPr>
              <a:t>Confidentiality</a:t>
            </a:r>
          </a:p>
          <a:p>
            <a:pPr lvl="1"/>
            <a:r>
              <a:rPr lang="en-US" sz="1800" b="0" i="0" dirty="0">
                <a:solidFill>
                  <a:srgbClr val="000000"/>
                </a:solidFill>
                <a:effectLst/>
                <a:latin typeface="Times New Roman" panose="02020603050405020304" pitchFamily="18" charset="0"/>
              </a:rPr>
              <a:t>Integrity</a:t>
            </a:r>
          </a:p>
          <a:p>
            <a:pPr lvl="1"/>
            <a:r>
              <a:rPr lang="en-US" sz="1800" b="0" i="0" dirty="0">
                <a:solidFill>
                  <a:srgbClr val="000000"/>
                </a:solidFill>
                <a:effectLst/>
                <a:latin typeface="Times New Roman" panose="02020603050405020304" pitchFamily="18" charset="0"/>
              </a:rPr>
              <a:t>Accountability</a:t>
            </a:r>
          </a:p>
          <a:p>
            <a:pPr lvl="1"/>
            <a:r>
              <a:rPr lang="en-US" sz="1800" b="0" i="0" dirty="0">
                <a:solidFill>
                  <a:srgbClr val="000000"/>
                </a:solidFill>
                <a:effectLst/>
                <a:latin typeface="Times New Roman" panose="02020603050405020304" pitchFamily="18" charset="0"/>
              </a:rPr>
              <a:t>Privacy</a:t>
            </a:r>
            <a:endParaRPr lang="en-US" dirty="0"/>
          </a:p>
        </p:txBody>
      </p:sp>
    </p:spTree>
    <p:extLst>
      <p:ext uri="{BB962C8B-B14F-4D97-AF65-F5344CB8AC3E}">
        <p14:creationId xmlns:p14="http://schemas.microsoft.com/office/powerpoint/2010/main" val="337606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02A624-F51F-2DBA-DA2C-35CAEA3D10D2}"/>
              </a:ext>
            </a:extLst>
          </p:cNvPr>
          <p:cNvSpPr>
            <a:spLocks noGrp="1"/>
          </p:cNvSpPr>
          <p:nvPr>
            <p:ph type="title"/>
          </p:nvPr>
        </p:nvSpPr>
        <p:spPr/>
        <p:txBody>
          <a:bodyPr/>
          <a:lstStyle/>
          <a:p>
            <a:r>
              <a:rPr lang="en-US" dirty="0"/>
              <a:t>Read More</a:t>
            </a:r>
          </a:p>
        </p:txBody>
      </p:sp>
      <p:sp>
        <p:nvSpPr>
          <p:cNvPr id="3" name="Content Placeholder 2">
            <a:extLst>
              <a:ext uri="{FF2B5EF4-FFF2-40B4-BE49-F238E27FC236}">
                <a16:creationId xmlns:a16="http://schemas.microsoft.com/office/drawing/2014/main" xmlns="" id="{B51640AC-D9B3-DE7D-8794-614EFA02D807}"/>
              </a:ext>
            </a:extLst>
          </p:cNvPr>
          <p:cNvSpPr>
            <a:spLocks noGrp="1"/>
          </p:cNvSpPr>
          <p:nvPr>
            <p:ph idx="1"/>
          </p:nvPr>
        </p:nvSpPr>
        <p:spPr/>
        <p:txBody>
          <a:bodyPr>
            <a:normAutofit/>
          </a:bodyPr>
          <a:lstStyle/>
          <a:p>
            <a:r>
              <a:rPr lang="en-US" i="0" dirty="0">
                <a:solidFill>
                  <a:srgbClr val="000000"/>
                </a:solidFill>
                <a:effectLst/>
              </a:rPr>
              <a:t>Data Security</a:t>
            </a:r>
          </a:p>
          <a:p>
            <a:r>
              <a:rPr lang="en-US" i="0" dirty="0">
                <a:solidFill>
                  <a:srgbClr val="000000"/>
                </a:solidFill>
                <a:effectLst/>
              </a:rPr>
              <a:t>Application Security</a:t>
            </a:r>
          </a:p>
          <a:p>
            <a:r>
              <a:rPr lang="en-US" i="0" dirty="0">
                <a:solidFill>
                  <a:srgbClr val="000000"/>
                </a:solidFill>
                <a:effectLst/>
              </a:rPr>
              <a:t>Virtual Machine Security</a:t>
            </a:r>
          </a:p>
          <a:p>
            <a:r>
              <a:rPr lang="en-US" i="0" dirty="0">
                <a:solidFill>
                  <a:srgbClr val="000000"/>
                </a:solidFill>
                <a:effectLst/>
              </a:rPr>
              <a:t>Managing images</a:t>
            </a:r>
          </a:p>
          <a:p>
            <a:r>
              <a:rPr lang="en-US" i="0" dirty="0">
                <a:solidFill>
                  <a:srgbClr val="000000"/>
                </a:solidFill>
                <a:effectLst/>
              </a:rPr>
              <a:t>Monitoring VMs</a:t>
            </a:r>
          </a:p>
          <a:p>
            <a:r>
              <a:rPr lang="en-US" i="0" dirty="0">
                <a:solidFill>
                  <a:srgbClr val="000000"/>
                </a:solidFill>
                <a:effectLst/>
              </a:rPr>
              <a:t>Networking</a:t>
            </a:r>
          </a:p>
          <a:p>
            <a:r>
              <a:rPr lang="en-US" i="0" dirty="0">
                <a:solidFill>
                  <a:srgbClr val="000000"/>
                </a:solidFill>
                <a:effectLst/>
              </a:rPr>
              <a:t>Integrity, Confidentiality and Privacy</a:t>
            </a:r>
          </a:p>
        </p:txBody>
      </p:sp>
    </p:spTree>
    <p:extLst>
      <p:ext uri="{BB962C8B-B14F-4D97-AF65-F5344CB8AC3E}">
        <p14:creationId xmlns:p14="http://schemas.microsoft.com/office/powerpoint/2010/main" val="2303170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1528</TotalTime>
  <Words>723</Words>
  <Application>Microsoft Office PowerPoint</Application>
  <PresentationFormat>Widescreen</PresentationFormat>
  <Paragraphs>128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Times New Roman</vt:lpstr>
      <vt:lpstr>Wingdings</vt:lpstr>
      <vt:lpstr>Office Theme</vt:lpstr>
      <vt:lpstr>Chapter-5: Cloud Security</vt:lpstr>
      <vt:lpstr>What is cloud security</vt:lpstr>
      <vt:lpstr>Security Challenges</vt:lpstr>
      <vt:lpstr>Software-as-a-service Security</vt:lpstr>
      <vt:lpstr>Software-as-a-service Security</vt:lpstr>
      <vt:lpstr>Software-as-a-service Security</vt:lpstr>
      <vt:lpstr>Security Issues</vt:lpstr>
      <vt:lpstr>Security Issues</vt:lpstr>
      <vt:lpstr>Security Issues</vt:lpstr>
      <vt:lpstr>Security Issues</vt:lpstr>
      <vt:lpstr>Security Management (People)</vt:lpstr>
      <vt:lpstr>Security Governance </vt:lpstr>
      <vt:lpstr>Security Governance </vt:lpstr>
      <vt:lpstr>Security Governance </vt:lpstr>
      <vt:lpstr>Security Governance</vt:lpstr>
      <vt:lpstr>Risk Management</vt:lpstr>
      <vt:lpstr>Risk Management (Security)</vt:lpstr>
      <vt:lpstr>Risk Management (Security)</vt:lpstr>
      <vt:lpstr>PowerPoint Presentation</vt:lpstr>
      <vt:lpstr>Secure Software Development Life Cycle (SecSDLC)</vt:lpstr>
      <vt:lpstr>Security Architecture Design</vt:lpstr>
      <vt:lpstr>Read More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Models for Distributed and Cloud computing</dc:title>
  <dc:creator>Direselign Addis ( D )</dc:creator>
  <cp:lastModifiedBy>user-pc</cp:lastModifiedBy>
  <cp:revision>315</cp:revision>
  <cp:lastPrinted>2022-05-28T05:02:51Z</cp:lastPrinted>
  <dcterms:created xsi:type="dcterms:W3CDTF">2022-05-19T19:17:29Z</dcterms:created>
  <dcterms:modified xsi:type="dcterms:W3CDTF">2024-11-29T15:10:18Z</dcterms:modified>
</cp:coreProperties>
</file>